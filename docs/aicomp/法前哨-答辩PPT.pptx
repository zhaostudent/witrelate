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 30 秒：法前哨不是又一个法律问答机器人，而是一套在‘成为当事人之前’做准备的系统：事实、证据、法律方向、话术，四条能力由不同 Agent 协作完成，每一步留痕。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用一句话把产品讲清楚：四个问题，四条能力，一条可审计的链；不是把四个工具拼在一起，而是每个角色只交一种结构化结论。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四个时刻不是四个产品，而是同一条链的四个入口。真正难的是：信息不全时也要能给出诚实的‘无法判定’，并把下一步动作说清楚。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这一页是需求分析的核心：不是讲法律行业多大，而是讲异构互联到底难在哪。五个缺口一一对应后面的五个机制。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这张图是全场核心：上面是外层主控，下面两个内层 Leader。注意链深 3 的边界，以及证据三叶子在第二台机器。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10 个部署角色，每个角色只交一种结构化结论；这是 Leader 能稳定汇总的前提。incitement/harm 是软废弃，不部署。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机制 1 解决效率：库内命中走快车道，库外才组织辩论。右侧是防自我确认：快裁自己的裁定不能反过来证明自己。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机制 2 是创新性重点：身份、链深、跨进程链三件事。尤其是 debate_chain 通过 DataPart 跨进程传递，入站不信任正文自报。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机制 3 是交付确定性：五层从提示到程序兜底。裁判追问是唯一的额外交互，但默认关闭且不泄露对方论点。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机制 4/5：证据、法律、溯源三件事的共同点是‘不装懂’。鉴伪给线索和 caveat，法律只引库内条文，溯源每一跳可回。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平台四件事都有证据：注册、发现、跨机、访问。注意底部这条 caveat：程序化 discovery 索引还在滞后，我们不把它写成已解决。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这条是真实外部 AIC 打进来的，不是我们自己刷的。结论恰好展示了产品价值：证据不足时敢说无法判定，并把举证责任讲清楚。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数字只报有证据的：12/10/2 角色、20 轮、12/12 指纹、1 次外部成功。95.45% 必须说明是同源基准，不是泛化准确率。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最后复盘四点经验，并把标准化建议落在协议/平台层面。未来工作只列能验证的，不画大饼。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收尾：法前哨不是替代律师，而是让用户在成为当事人之前，把事实、证据、话术准备好。谢谢。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1051560"/>
            <a:ext cx="73152" cy="288036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75488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7B8B9B"/>
                </a:solidFill>
                <a:latin typeface="微软雅黑"/>
                <a:ea typeface="微软雅黑"/>
              </a:rPr>
              <a:t>第八届全球校园人工智能算法精英大赛 · 算法主题赛 · 智能体互联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960120"/>
            <a:ext cx="7315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>
                <a:solidFill>
                  <a:srgbClr val="123B5D"/>
                </a:solidFill>
                <a:latin typeface="微软雅黑"/>
                <a:ea typeface="微软雅黑"/>
              </a:rPr>
              <a:t>法前哨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1828800"/>
            <a:ext cx="7863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F4E79"/>
                </a:solidFill>
                <a:latin typeface="微软雅黑"/>
                <a:ea typeface="微软雅黑"/>
              </a:rPr>
              <a:t>面向法律纠纷“事前准备”的可审计多智能体系统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233172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A9D8F"/>
                </a:solidFill>
                <a:latin typeface="微软雅黑"/>
                <a:ea typeface="微软雅黑"/>
              </a:rPr>
              <a:t>技术方案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3063240"/>
            <a:ext cx="7863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>
                <a:solidFill>
                  <a:srgbClr val="5B6B7C"/>
                </a:solidFill>
                <a:latin typeface="微软雅黑"/>
                <a:ea typeface="微软雅黑"/>
              </a:rPr>
              <a:t>不是“遇到官司再问律师”，</a:t>
            </a:r>
          </a:p>
          <a:p>
            <a:pPr algn="l">
              <a:lnSpc>
                <a:spcPct val="125000"/>
              </a:lnSpc>
            </a:pPr>
            <a:r>
              <a:rPr sz="1450" b="0">
                <a:solidFill>
                  <a:srgbClr val="5B6B7C"/>
                </a:solidFill>
                <a:latin typeface="微软雅黑"/>
                <a:ea typeface="微软雅黑"/>
              </a:rPr>
              <a:t>而是“在成为当事人之前，先把事实、证据、话术准备好”。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" y="5349240"/>
            <a:ext cx="1874519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5431536"/>
            <a:ext cx="187451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F4E79"/>
                </a:solidFill>
                <a:latin typeface="微软雅黑"/>
                <a:ea typeface="微软雅黑"/>
              </a:rPr>
              <a:t>梧桐 ACPs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44952" y="5349240"/>
            <a:ext cx="1874519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44952" y="5431536"/>
            <a:ext cx="187451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F4E79"/>
                </a:solidFill>
                <a:latin typeface="微软雅黑"/>
                <a:ea typeface="微软雅黑"/>
              </a:rPr>
              <a:t>mTLS + AIC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93792" y="5349240"/>
            <a:ext cx="1874519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93792" y="5431536"/>
            <a:ext cx="187451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F4E79"/>
                </a:solidFill>
                <a:latin typeface="微软雅黑"/>
                <a:ea typeface="微软雅黑"/>
              </a:rPr>
              <a:t>两级嵌套 Leader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5989320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7B8B9B"/>
                </a:solidFill>
                <a:latin typeface="微软雅黑"/>
                <a:ea typeface="微软雅黑"/>
              </a:rPr>
              <a:t>平台：梧桐智能体互联平台  wt.ioa.pub     版本：v1.0 · 2026-10-21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98280" y="1097280"/>
            <a:ext cx="10972" cy="3931920"/>
          </a:xfrm>
          <a:prstGeom prst="rect">
            <a:avLst/>
          </a:prstGeom>
          <a:solidFill>
            <a:srgbClr val="D4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81160" y="1188720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2A9D8F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46920" y="1152144"/>
            <a:ext cx="2103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23B5D"/>
                </a:solidFill>
                <a:latin typeface="微软雅黑"/>
                <a:ea typeface="微软雅黑"/>
              </a:rPr>
              <a:t>事实核查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46920" y="1435608"/>
            <a:ext cx="2103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>
                <a:solidFill>
                  <a:srgbClr val="5B6B7C"/>
                </a:solidFill>
                <a:latin typeface="微软雅黑"/>
                <a:ea typeface="微软雅黑"/>
              </a:rPr>
              <a:t>说法可不可信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81160" y="2148840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2A9D8F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46920" y="2112264"/>
            <a:ext cx="2103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23B5D"/>
                </a:solidFill>
                <a:latin typeface="微软雅黑"/>
                <a:ea typeface="微软雅黑"/>
              </a:rPr>
              <a:t>证据鉴伪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46920" y="2395728"/>
            <a:ext cx="2103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>
                <a:solidFill>
                  <a:srgbClr val="5B6B7C"/>
                </a:solidFill>
                <a:latin typeface="微软雅黑"/>
                <a:ea typeface="微软雅黑"/>
              </a:rPr>
              <a:t>图/音/视频有没有被动过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1160" y="3108960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2A9D8F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46920" y="3072384"/>
            <a:ext cx="2103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23B5D"/>
                </a:solidFill>
                <a:latin typeface="微软雅黑"/>
                <a:ea typeface="微软雅黑"/>
              </a:rPr>
              <a:t>法律方向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46920" y="3355848"/>
            <a:ext cx="2103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>
                <a:solidFill>
                  <a:srgbClr val="5B6B7C"/>
                </a:solidFill>
                <a:latin typeface="微软雅黑"/>
                <a:ea typeface="微软雅黑"/>
              </a:rPr>
              <a:t>下一步该做什么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81160" y="4069080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2A9D8F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46920" y="4032504"/>
            <a:ext cx="2103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23B5D"/>
                </a:solidFill>
                <a:latin typeface="微软雅黑"/>
                <a:ea typeface="微软雅黑"/>
              </a:rPr>
              <a:t>话术演练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46920" y="4315968"/>
            <a:ext cx="2103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>
                <a:solidFill>
                  <a:srgbClr val="5B6B7C"/>
                </a:solidFill>
                <a:latin typeface="微软雅黑"/>
                <a:ea typeface="微软雅黑"/>
              </a:rPr>
              <a:t>对方在带什么节奏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A9D8F"/>
                </a:solidFill>
                <a:latin typeface="微软雅黑"/>
                <a:ea typeface="微软雅黑"/>
              </a:rPr>
              <a:t>01 / 作品概述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23B5D"/>
                </a:solidFill>
                <a:latin typeface="微软雅黑"/>
                <a:ea typeface="微软雅黑"/>
              </a:rPr>
              <a:t>一句话：把“事前准备”做成一条可审计的链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78992"/>
            <a:ext cx="11091672" cy="10972"/>
          </a:xfrm>
          <a:prstGeom prst="rect">
            <a:avLst/>
          </a:prstGeom>
          <a:solidFill>
            <a:srgbClr val="D4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298448"/>
            <a:ext cx="6766560" cy="342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b="1">
                <a:solidFill>
                  <a:srgbClr val="2A9D8F"/>
                </a:solidFill>
                <a:latin typeface="微软雅黑"/>
                <a:ea typeface="微软雅黑"/>
              </a:rPr>
              <a:t>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91640"/>
            <a:ext cx="5760720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>
                <a:solidFill>
                  <a:srgbClr val="123B5D"/>
                </a:solidFill>
                <a:latin typeface="微软雅黑"/>
                <a:ea typeface="微软雅黑"/>
              </a:rPr>
              <a:t>很多人不是输在官司里，而是输在事发前：</a:t>
            </a:r>
          </a:p>
          <a:p>
            <a:pPr algn="l">
              <a:lnSpc>
                <a:spcPct val="135000"/>
              </a:lnSpc>
            </a:pPr>
            <a:r>
              <a:rPr sz="1800" b="0">
                <a:solidFill>
                  <a:srgbClr val="123B5D"/>
                </a:solidFill>
                <a:latin typeface="微软雅黑"/>
                <a:ea typeface="微软雅黑"/>
              </a:rPr>
              <a:t>转了一条假消息、信了一张改过的图、</a:t>
            </a:r>
          </a:p>
          <a:p>
            <a:pPr algn="l">
              <a:lnSpc>
                <a:spcPct val="135000"/>
              </a:lnSpc>
            </a:pPr>
            <a:r>
              <a:rPr sz="1800" b="0">
                <a:solidFill>
                  <a:srgbClr val="123B5D"/>
                </a:solidFill>
                <a:latin typeface="微软雅黑"/>
                <a:ea typeface="微软雅黑"/>
              </a:rPr>
              <a:t>在群里说错一句话、该留的证据没留。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3246120"/>
            <a:ext cx="5669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5B6B7C"/>
                </a:solidFill>
                <a:latin typeface="微软雅黑"/>
                <a:ea typeface="微软雅黑"/>
              </a:rPr>
              <a:t>法前哨把“事前”拆成四件事，由多个 Agent 协作完成；</a:t>
            </a:r>
          </a:p>
          <a:p>
            <a:pPr algn="l">
              <a:lnSpc>
                <a:spcPct val="130000"/>
              </a:lnSpc>
            </a:pPr>
            <a:r>
              <a:rPr sz="1250" b="0">
                <a:solidFill>
                  <a:srgbClr val="5B6B7C"/>
                </a:solidFill>
                <a:latin typeface="微软雅黑"/>
                <a:ea typeface="微软雅黑"/>
              </a:rPr>
              <a:t>最终交付一份可回溯的准备清单。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1298448"/>
            <a:ext cx="3977639" cy="8961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35240" y="1298448"/>
            <a:ext cx="73152" cy="89611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45552" y="138988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23B5D"/>
                </a:solidFill>
                <a:latin typeface="微软雅黑"/>
                <a:ea typeface="微软雅黑"/>
              </a:rPr>
              <a:t>事实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1389888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B6B7C"/>
                </a:solidFill>
                <a:latin typeface="微软雅黑"/>
                <a:ea typeface="微软雅黑"/>
              </a:rPr>
              <a:t>这个说法是真的吗？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45552" y="173736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F4E79"/>
                </a:solidFill>
                <a:latin typeface="微软雅黑"/>
                <a:ea typeface="微软雅黑"/>
              </a:rPr>
              <a:t>网络裁判 + 正反辩论 / 快车道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2331720"/>
            <a:ext cx="3977639" cy="8961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35240" y="2331720"/>
            <a:ext cx="73152" cy="896112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45552" y="242316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23B5D"/>
                </a:solidFill>
                <a:latin typeface="微软雅黑"/>
                <a:ea typeface="微软雅黑"/>
              </a:rPr>
              <a:t>证据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2423160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B6B7C"/>
                </a:solidFill>
                <a:latin typeface="微软雅黑"/>
                <a:ea typeface="微软雅黑"/>
              </a:rPr>
              <a:t>图 / 音频 / 视频被动过吗？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45552" y="2770632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F4E79"/>
                </a:solidFill>
                <a:latin typeface="微软雅黑"/>
                <a:ea typeface="微软雅黑"/>
              </a:rPr>
              <a:t>证据鉴证 Leader + 三模态专家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35240" y="3364991"/>
            <a:ext cx="3977639" cy="8961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635240" y="3364991"/>
            <a:ext cx="73152" cy="89611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45552" y="345643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23B5D"/>
                </a:solidFill>
                <a:latin typeface="微软雅黑"/>
                <a:ea typeface="微软雅黑"/>
              </a:rPr>
              <a:t>法律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9640" y="3456432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B6B7C"/>
                </a:solidFill>
                <a:latin typeface="微软雅黑"/>
                <a:ea typeface="微软雅黑"/>
              </a:rPr>
              <a:t>下一步该做什么？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45552" y="3803904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F4E79"/>
                </a:solidFill>
                <a:latin typeface="微软雅黑"/>
                <a:ea typeface="微软雅黑"/>
              </a:rPr>
              <a:t>法律顾问：库内法条逐字引用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35240" y="4398264"/>
            <a:ext cx="3977639" cy="8961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635240" y="4398264"/>
            <a:ext cx="73152" cy="896112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45552" y="4489703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23B5D"/>
                </a:solidFill>
                <a:latin typeface="微软雅黑"/>
                <a:ea typeface="微软雅黑"/>
              </a:rPr>
              <a:t>话术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49640" y="4489703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B6B7C"/>
                </a:solidFill>
                <a:latin typeface="微软雅黑"/>
                <a:ea typeface="微软雅黑"/>
              </a:rPr>
              <a:t>对方在带什么节奏？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45552" y="4837175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F4E79"/>
                </a:solidFill>
                <a:latin typeface="微软雅黑"/>
                <a:ea typeface="微软雅黑"/>
              </a:rPr>
              <a:t>演练场：信息三桶 + 复盘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5074920"/>
            <a:ext cx="11064240" cy="658368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5239512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23B5D"/>
                </a:solidFill>
                <a:latin typeface="微软雅黑"/>
                <a:ea typeface="微软雅黑"/>
              </a:rPr>
              <a:t>最终交付：FinalVerdict + 可回溯准备清单     |     不做法律定性，不替代执业律师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6455664"/>
            <a:ext cx="11091672" cy="7315"/>
          </a:xfrm>
          <a:prstGeom prst="rect">
            <a:avLst/>
          </a:prstGeom>
          <a:solidFill>
            <a:srgbClr val="D4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51052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7B8B9B"/>
                </a:solidFill>
                <a:latin typeface="微软雅黑"/>
                <a:ea typeface="微软雅黑"/>
              </a:rPr>
              <a:t>法前哨 · 技术方案 v1.0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78440" y="6510528"/>
            <a:ext cx="1234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7B8B9B"/>
                </a:solidFill>
                <a:latin typeface="微软雅黑"/>
                <a:ea typeface="微软雅黑"/>
              </a:rPr>
              <a:t>02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A9D8F"/>
                </a:solidFill>
                <a:latin typeface="微软雅黑"/>
                <a:ea typeface="微软雅黑"/>
              </a:rPr>
              <a:t>01 / 作品概述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23B5D"/>
                </a:solidFill>
                <a:latin typeface="微软雅黑"/>
                <a:ea typeface="微软雅黑"/>
              </a:rPr>
              <a:t>四个真实时刻，四种“来不及”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78992"/>
            <a:ext cx="11091672" cy="10972"/>
          </a:xfrm>
          <a:prstGeom prst="rect">
            <a:avLst/>
          </a:prstGeom>
          <a:solidFill>
            <a:srgbClr val="D4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5394960" cy="1673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72184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23B5D"/>
                </a:solidFill>
                <a:latin typeface="微软雅黑"/>
                <a:ea typeface="微软雅黑"/>
              </a:rPr>
              <a:t>转发前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47088"/>
            <a:ext cx="4983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5B6B7C"/>
                </a:solidFill>
                <a:latin typeface="微软雅黑"/>
                <a:ea typeface="微软雅黑"/>
              </a:rPr>
              <a:t>群里看到“某地爆炸 / 某银行倒闭”，转还是不转？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4983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F4E79"/>
                </a:solidFill>
                <a:latin typeface="微软雅黑"/>
                <a:ea typeface="微软雅黑"/>
              </a:rPr>
              <a:t>要的是：这条说法可不可信、转了会不会出事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25880"/>
            <a:ext cx="5394960" cy="1673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472184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23B5D"/>
                </a:solidFill>
                <a:latin typeface="微软雅黑"/>
                <a:ea typeface="微软雅黑"/>
              </a:rPr>
              <a:t>被挂截图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847088"/>
            <a:ext cx="4983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5B6B7C"/>
                </a:solidFill>
                <a:latin typeface="微软雅黑"/>
                <a:ea typeface="微软雅黑"/>
              </a:rPr>
              <a:t>被人挂了一张聊天记录截图，是真的吗？该不该回应？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468880"/>
            <a:ext cx="4983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F4E79"/>
                </a:solidFill>
                <a:latin typeface="微软雅黑"/>
                <a:ea typeface="微软雅黑"/>
              </a:rPr>
              <a:t>要的是：截图/录音有没有被动过、怎么接话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200400"/>
            <a:ext cx="5394960" cy="1673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346704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23B5D"/>
                </a:solidFill>
                <a:latin typeface="微软雅黑"/>
                <a:ea typeface="微软雅黑"/>
              </a:rPr>
              <a:t>签约前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721608"/>
            <a:ext cx="4983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5B6B7C"/>
                </a:solidFill>
                <a:latin typeface="微软雅黑"/>
                <a:ea typeface="微软雅黑"/>
              </a:rPr>
              <a:t>租房、借款、合作合同，哪些条款要警惕？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343400"/>
            <a:ext cx="4983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F4E79"/>
                </a:solidFill>
                <a:latin typeface="微软雅黑"/>
                <a:ea typeface="微软雅黑"/>
              </a:rPr>
              <a:t>要的是：哪些证据先留、哪些话不能说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200400"/>
            <a:ext cx="5394960" cy="1673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3346704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23B5D"/>
                </a:solidFill>
                <a:latin typeface="微软雅黑"/>
                <a:ea typeface="微软雅黑"/>
              </a:rPr>
              <a:t>找律师前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3721608"/>
            <a:ext cx="4983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5B6B7C"/>
                </a:solidFill>
                <a:latin typeface="微软雅黑"/>
                <a:ea typeface="微软雅黑"/>
              </a:rPr>
              <a:t>材料一团乱，说不清时间线。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4343400"/>
            <a:ext cx="4983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F4E79"/>
                </a:solidFill>
                <a:latin typeface="微软雅黑"/>
                <a:ea typeface="微软雅黑"/>
              </a:rPr>
              <a:t>要的是：先整理事实、证据、诉求，再决定找谁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440680"/>
            <a:ext cx="11064240" cy="566928"/>
          </a:xfrm>
          <a:prstGeom prst="roundRect">
            <a:avLst>
              <a:gd name="adj" fmla="val 8000"/>
            </a:avLst>
          </a:prstGeom>
          <a:solidFill>
            <a:srgbClr val="FFF6E6"/>
          </a:solidFill>
          <a:ln w="12700">
            <a:solidFill>
              <a:srgbClr val="F0D2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596128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7A4A12"/>
                </a:solidFill>
                <a:latin typeface="微软雅黑"/>
                <a:ea typeface="微软雅黑"/>
              </a:rPr>
              <a:t>共同点：信息不全、证据没留、话术说错——用户要的不是“法律意见”，是“事前准备”。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6455664"/>
            <a:ext cx="11091672" cy="7315"/>
          </a:xfrm>
          <a:prstGeom prst="rect">
            <a:avLst/>
          </a:prstGeom>
          <a:solidFill>
            <a:srgbClr val="D4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651052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7B8B9B"/>
                </a:solidFill>
                <a:latin typeface="微软雅黑"/>
                <a:ea typeface="微软雅黑"/>
              </a:rPr>
              <a:t>法前哨 · 技术方案 v1.0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78440" y="6510528"/>
            <a:ext cx="1234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7B8B9B"/>
                </a:solidFill>
                <a:latin typeface="微软雅黑"/>
                <a:ea typeface="微软雅黑"/>
              </a:rPr>
              <a:t>03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A9D8F"/>
                </a:solidFill>
                <a:latin typeface="微软雅黑"/>
                <a:ea typeface="微软雅黑"/>
              </a:rPr>
              <a:t>02 / 需求分析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23B5D"/>
                </a:solidFill>
                <a:latin typeface="微软雅黑"/>
                <a:ea typeface="微软雅黑"/>
              </a:rPr>
              <a:t>真正的难题：异构智能体互联的五个缺口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78992"/>
            <a:ext cx="11091672" cy="10972"/>
          </a:xfrm>
          <a:prstGeom prst="rect">
            <a:avLst/>
          </a:prstGeom>
          <a:solidFill>
            <a:srgbClr val="D4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70432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B6B7C"/>
                </a:solidFill>
                <a:latin typeface="微软雅黑"/>
                <a:ea typeface="微软雅黑"/>
              </a:rPr>
              <a:t>不是“再做一个法律 Agent”，而是：当能力分散在不同账号、机器、团队的 Agent 上，怎么安全地发现、委派、回传、留痕。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2763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7B8B9B"/>
                </a:solidFill>
                <a:latin typeface="微软雅黑"/>
                <a:ea typeface="微软雅黑"/>
              </a:rPr>
              <a:t>#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627632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7B8B9B"/>
                </a:solidFill>
                <a:latin typeface="微软雅黑"/>
                <a:ea typeface="微软雅黑"/>
              </a:rPr>
              <a:t>缺口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88920" y="1627632"/>
            <a:ext cx="4297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7B8B9B"/>
                </a:solidFill>
                <a:latin typeface="微软雅黑"/>
                <a:ea typeface="微软雅黑"/>
              </a:rPr>
              <a:t>具体表现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1627632"/>
            <a:ext cx="4206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7B8B9B"/>
                </a:solidFill>
                <a:latin typeface="微软雅黑"/>
                <a:ea typeface="微软雅黑"/>
              </a:rPr>
              <a:t>本作品的回答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938528"/>
            <a:ext cx="1106424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4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12140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A9D8F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084832"/>
            <a:ext cx="1691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23B5D"/>
                </a:solidFill>
                <a:latin typeface="微软雅黑"/>
                <a:ea typeface="微软雅黑"/>
              </a:rPr>
              <a:t>身份与信任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16352" y="2066544"/>
            <a:ext cx="4251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5B6B7C"/>
                </a:solidFill>
                <a:latin typeface="微软雅黑"/>
                <a:ea typeface="微软雅黑"/>
              </a:rPr>
              <a:t>跨账号调用，怎么确认“你是谁、能不能代表这个 Agent”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2066544"/>
            <a:ext cx="4160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1F4E79"/>
                </a:solidFill>
                <a:latin typeface="微软雅黑"/>
                <a:ea typeface="微软雅黑"/>
              </a:rPr>
              <a:t>mTLS + AIC；平台审核；账号前缀闸门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724912"/>
            <a:ext cx="11064240" cy="676656"/>
          </a:xfrm>
          <a:prstGeom prst="rect">
            <a:avLst/>
          </a:prstGeom>
          <a:solidFill>
            <a:srgbClr val="EEF3F8"/>
          </a:solidFill>
          <a:ln w="12700">
            <a:solidFill>
              <a:srgbClr val="D4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2907792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A9D8F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2871216"/>
            <a:ext cx="1691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23B5D"/>
                </a:solidFill>
                <a:latin typeface="微软雅黑"/>
                <a:ea typeface="微软雅黑"/>
              </a:rPr>
              <a:t>发现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16352" y="2852928"/>
            <a:ext cx="4251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5B6B7C"/>
                </a:solidFill>
                <a:latin typeface="微软雅黑"/>
                <a:ea typeface="微软雅黑"/>
              </a:rPr>
              <a:t>地址写死就失去互联意义；按 AIC 搜是语义检索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2852928"/>
            <a:ext cx="4160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1F4E79"/>
                </a:solidFill>
                <a:latin typeface="微软雅黑"/>
                <a:ea typeface="微软雅黑"/>
              </a:rPr>
              <a:t>acps.discover 按能力/名称；AIC 只作身份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511296"/>
            <a:ext cx="1106424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4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3694176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A9D8F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" y="3657600"/>
            <a:ext cx="1691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23B5D"/>
                </a:solidFill>
                <a:latin typeface="微软雅黑"/>
                <a:ea typeface="微软雅黑"/>
              </a:rPr>
              <a:t>契约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16352" y="3639312"/>
            <a:ext cx="4251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5B6B7C"/>
                </a:solidFill>
                <a:latin typeface="微软雅黑"/>
                <a:ea typeface="微软雅黑"/>
              </a:rPr>
              <a:t>各家用自然语言回传，Leader 无法稳定解析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3639312"/>
            <a:ext cx="4160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1F4E79"/>
                </a:solidFill>
                <a:latin typeface="微软雅黑"/>
                <a:ea typeface="微软雅黑"/>
              </a:rPr>
              <a:t>每角色一个 pydantic 交付物；@capability 是提交通道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297680"/>
            <a:ext cx="11064240" cy="676656"/>
          </a:xfrm>
          <a:prstGeom prst="rect">
            <a:avLst/>
          </a:prstGeom>
          <a:solidFill>
            <a:srgbClr val="EEF3F8"/>
          </a:solidFill>
          <a:ln w="12700">
            <a:solidFill>
              <a:srgbClr val="D4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448056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A9D8F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7552" y="4443984"/>
            <a:ext cx="1691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23B5D"/>
                </a:solidFill>
                <a:latin typeface="微软雅黑"/>
                <a:ea typeface="微软雅黑"/>
              </a:rPr>
              <a:t>调度与安全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16352" y="4425696"/>
            <a:ext cx="4251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5B6B7C"/>
                </a:solidFill>
                <a:latin typeface="微软雅黑"/>
                <a:ea typeface="微软雅黑"/>
              </a:rPr>
              <a:t>多跳委派容易越界、成环、把任务派给错人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0" y="4425696"/>
            <a:ext cx="4160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1F4E79"/>
                </a:solidFill>
                <a:latin typeface="微软雅黑"/>
                <a:ea typeface="微软雅黑"/>
              </a:rPr>
              <a:t>两级嵌套；MAX_CHAIN_DEPTH=3；环检测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5084064"/>
            <a:ext cx="1106424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4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526694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A9D8F"/>
                </a:solidFill>
                <a:latin typeface="微软雅黑"/>
                <a:ea typeface="微软雅黑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7552" y="5230368"/>
            <a:ext cx="1691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23B5D"/>
                </a:solidFill>
                <a:latin typeface="微软雅黑"/>
                <a:ea typeface="微软雅黑"/>
              </a:rPr>
              <a:t>可观测与合规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16352" y="5212080"/>
            <a:ext cx="4251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5B6B7C"/>
                </a:solidFill>
                <a:latin typeface="微软雅黑"/>
                <a:ea typeface="微软雅黑"/>
              </a:rPr>
              <a:t>出了事只有聊天记录，无法证明哪一跳用了什么材料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0" y="5212080"/>
            <a:ext cx="4160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1F4E79"/>
                </a:solidFill>
                <a:latin typeface="微软雅黑"/>
                <a:ea typeface="微软雅黑"/>
              </a:rPr>
              <a:t>任务库 + sidecar + 可点击溯源表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598932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2A9D8F"/>
                </a:solidFill>
                <a:latin typeface="微软雅黑"/>
                <a:ea typeface="微软雅黑"/>
              </a:rPr>
              <a:t>这五个缺口决定了：不能只做“一个 Leader 调几个 Partner”的 demo，必须把链深、身份、载荷、终止、留痕做成结构。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6455664"/>
            <a:ext cx="11091672" cy="7315"/>
          </a:xfrm>
          <a:prstGeom prst="rect">
            <a:avLst/>
          </a:prstGeom>
          <a:solidFill>
            <a:srgbClr val="D4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651052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7B8B9B"/>
                </a:solidFill>
                <a:latin typeface="微软雅黑"/>
                <a:ea typeface="微软雅黑"/>
              </a:rPr>
              <a:t>法前哨 · 技术方案 v1.0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78440" y="6510528"/>
            <a:ext cx="1234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7B8B9B"/>
                </a:solidFill>
                <a:latin typeface="微软雅黑"/>
                <a:ea typeface="微软雅黑"/>
              </a:rPr>
              <a:t>04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A9D8F"/>
                </a:solidFill>
                <a:latin typeface="微软雅黑"/>
                <a:ea typeface="微软雅黑"/>
              </a:rPr>
              <a:t>03 / 技术方案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23B5D"/>
                </a:solidFill>
                <a:latin typeface="微软雅黑"/>
                <a:ea typeface="微软雅黑"/>
              </a:rPr>
              <a:t>总体架构：两级嵌套 + 一条主链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78992"/>
            <a:ext cx="11091672" cy="10972"/>
          </a:xfrm>
          <a:prstGeom prst="rect">
            <a:avLst/>
          </a:prstGeom>
          <a:solidFill>
            <a:srgbClr val="D4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架构图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377" y="1170432"/>
            <a:ext cx="8851604" cy="5074920"/>
          </a:xfrm>
          <a:prstGeom prst="rect">
            <a:avLst/>
          </a:prstGeom>
          <a:ln w="9525">
            <a:solidFill>
              <a:srgbClr val="D4E0EA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48640" y="6272784"/>
            <a:ext cx="8595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B8B9B"/>
                </a:solidFill>
                <a:latin typeface="微软雅黑"/>
                <a:ea typeface="微软雅黑"/>
              </a:rPr>
              <a:t>图 1 · 法前哨两级嵌套 Leader/Partner 架构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353312"/>
            <a:ext cx="233172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050" b="1">
                <a:solidFill>
                  <a:srgbClr val="2A9D8F"/>
                </a:solidFill>
                <a:latin typeface="微软雅黑"/>
                <a:ea typeface="微软雅黑"/>
              </a:rPr>
              <a:t>• </a:t>
            </a:r>
            <a:r>
              <a:rPr sz="1050" b="0">
                <a:solidFill>
                  <a:srgbClr val="5B6B7C"/>
                </a:solidFill>
                <a:latin typeface="微软雅黑"/>
                <a:ea typeface="微软雅黑"/>
              </a:rPr>
              <a:t>两级嵌套：主控 → 内层 Leader → 叶子；裁判/证据各自组织下游。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050" b="1">
                <a:solidFill>
                  <a:srgbClr val="2A9D8F"/>
                </a:solidFill>
                <a:latin typeface="微软雅黑"/>
                <a:ea typeface="微软雅黑"/>
              </a:rPr>
              <a:t>• </a:t>
            </a:r>
            <a:r>
              <a:rPr sz="1050" b="0">
                <a:solidFill>
                  <a:srgbClr val="5B6B7C"/>
                </a:solidFill>
                <a:latin typeface="微软雅黑"/>
                <a:ea typeface="微软雅黑"/>
              </a:rPr>
              <a:t>链深上限 3；扇出不等于链深；越界/成环结构化拒绝。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050" b="1">
                <a:solidFill>
                  <a:srgbClr val="2A9D8F"/>
                </a:solidFill>
                <a:latin typeface="微软雅黑"/>
                <a:ea typeface="微软雅黑"/>
              </a:rPr>
              <a:t>• </a:t>
            </a:r>
            <a:r>
              <a:rPr sz="1050" b="0">
                <a:solidFill>
                  <a:srgbClr val="5B6B7C"/>
                </a:solidFill>
                <a:latin typeface="微软雅黑"/>
                <a:ea typeface="微软雅黑"/>
              </a:rPr>
              <a:t>s1 主链 7 角色，s2 证据三叶子；DataPart 跨进程传链。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050" b="1">
                <a:solidFill>
                  <a:srgbClr val="2A9D8F"/>
                </a:solidFill>
                <a:latin typeface="微软雅黑"/>
                <a:ea typeface="微软雅黑"/>
              </a:rPr>
              <a:t>• </a:t>
            </a:r>
            <a:r>
              <a:rPr sz="1050" b="0">
                <a:solidFill>
                  <a:srgbClr val="5B6B7C"/>
                </a:solidFill>
                <a:latin typeface="微软雅黑"/>
                <a:ea typeface="微软雅黑"/>
              </a:rPr>
              <a:t>演练场独立进程，不注册 ACPs，不计平台访问。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64040" y="5532120"/>
            <a:ext cx="2240280" cy="566928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82912" y="5605272"/>
            <a:ext cx="20116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F4E79"/>
                </a:solidFill>
                <a:latin typeface="微软雅黑"/>
                <a:ea typeface="微软雅黑"/>
              </a:rPr>
              <a:t>12 角色 · 10 部署</a:t>
            </a:r>
          </a:p>
          <a:p>
            <a:pPr algn="l">
              <a:lnSpc>
                <a:spcPct val="100000"/>
              </a:lnSpc>
            </a:pPr>
            <a:r>
              <a:rPr sz="1000" b="1">
                <a:solidFill>
                  <a:srgbClr val="1F4E79"/>
                </a:solidFill>
                <a:latin typeface="微软雅黑"/>
                <a:ea typeface="微软雅黑"/>
              </a:rPr>
              <a:t>2 软废弃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455664"/>
            <a:ext cx="11091672" cy="7315"/>
          </a:xfrm>
          <a:prstGeom prst="rect">
            <a:avLst/>
          </a:prstGeom>
          <a:solidFill>
            <a:srgbClr val="D4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51052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7B8B9B"/>
                </a:solidFill>
                <a:latin typeface="微软雅黑"/>
                <a:ea typeface="微软雅黑"/>
              </a:rPr>
              <a:t>法前哨 · 技术方案 v1.0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510528"/>
            <a:ext cx="1234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7B8B9B"/>
                </a:solidFill>
                <a:latin typeface="微软雅黑"/>
                <a:ea typeface="微软雅黑"/>
              </a:rPr>
              <a:t>05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A9D8F"/>
                </a:solidFill>
                <a:latin typeface="微软雅黑"/>
                <a:ea typeface="微软雅黑"/>
              </a:rPr>
              <a:t>03 / 技术方案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23B5D"/>
                </a:solidFill>
                <a:latin typeface="微软雅黑"/>
                <a:ea typeface="微软雅黑"/>
              </a:rPr>
              <a:t>角色与契约：10 个部署，每个只交一种结构化结论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78992"/>
            <a:ext cx="11091672" cy="10972"/>
          </a:xfrm>
          <a:prstGeom prst="rect">
            <a:avLst/>
          </a:prstGeom>
          <a:solidFill>
            <a:srgbClr val="D4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261872"/>
            <a:ext cx="544068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" y="135331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23B5D"/>
                </a:solidFill>
                <a:latin typeface="微软雅黑"/>
                <a:ea typeface="微软雅黑"/>
              </a:rPr>
              <a:t>leader（法前哨）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1353312"/>
            <a:ext cx="1234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7B8B9B"/>
                </a:solidFill>
                <a:latin typeface="微软雅黑"/>
                <a:ea typeface="微软雅黑"/>
              </a:rPr>
              <a:t>8445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6279" y="1353312"/>
            <a:ext cx="1325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2A9D8F"/>
                </a:solidFill>
                <a:latin typeface="微软雅黑"/>
                <a:ea typeface="微软雅黑"/>
              </a:rPr>
              <a:t>FinalVerdict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1664207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7B8B9B"/>
                </a:solidFill>
                <a:latin typeface="微软雅黑"/>
                <a:ea typeface="微软雅黑"/>
              </a:rPr>
              <a:t>外层主控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61872"/>
            <a:ext cx="544068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64224" y="135331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23B5D"/>
                </a:solidFill>
                <a:latin typeface="微软雅黑"/>
                <a:ea typeface="微软雅黑"/>
              </a:rPr>
              <a:t>fact-judge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1353312"/>
            <a:ext cx="1234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7B8B9B"/>
                </a:solidFill>
                <a:latin typeface="微软雅黑"/>
                <a:ea typeface="微软雅黑"/>
              </a:rPr>
              <a:t>8448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95559" y="1353312"/>
            <a:ext cx="1325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2A9D8F"/>
                </a:solidFill>
                <a:latin typeface="微软雅黑"/>
                <a:ea typeface="微软雅黑"/>
              </a:rPr>
              <a:t>FactRuling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64224" y="1664207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7B8B9B"/>
                </a:solidFill>
                <a:latin typeface="微软雅黑"/>
                <a:ea typeface="微软雅黑"/>
              </a:rPr>
              <a:t>内层裁判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103120"/>
            <a:ext cx="544068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944" y="219456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23B5D"/>
                </a:solidFill>
                <a:latin typeface="微软雅黑"/>
                <a:ea typeface="微软雅黑"/>
              </a:rPr>
              <a:t>debate-pro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2194560"/>
            <a:ext cx="1234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7B8B9B"/>
                </a:solidFill>
                <a:latin typeface="微软雅黑"/>
                <a:ea typeface="微软雅黑"/>
              </a:rPr>
              <a:t>8446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79" y="2194560"/>
            <a:ext cx="1325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2A9D8F"/>
                </a:solidFill>
                <a:latin typeface="微软雅黑"/>
                <a:ea typeface="微软雅黑"/>
              </a:rPr>
              <a:t>结构化辩词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" y="2505456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7B8B9B"/>
                </a:solidFill>
                <a:latin typeface="微软雅黑"/>
                <a:ea typeface="微软雅黑"/>
              </a:rPr>
              <a:t>正方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2103120"/>
            <a:ext cx="544068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64224" y="219456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23B5D"/>
                </a:solidFill>
                <a:latin typeface="微软雅黑"/>
                <a:ea typeface="微软雅黑"/>
              </a:rPr>
              <a:t>debate-con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2194560"/>
            <a:ext cx="1234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7B8B9B"/>
                </a:solidFill>
                <a:latin typeface="微软雅黑"/>
                <a:ea typeface="微软雅黑"/>
              </a:rPr>
              <a:t>8447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95559" y="2194560"/>
            <a:ext cx="1325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2A9D8F"/>
                </a:solidFill>
                <a:latin typeface="微软雅黑"/>
                <a:ea typeface="微软雅黑"/>
              </a:rPr>
              <a:t>结构化辩词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64224" y="2505456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7B8B9B"/>
                </a:solidFill>
                <a:latin typeface="微软雅黑"/>
                <a:ea typeface="微软雅黑"/>
              </a:rPr>
              <a:t>反方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2944368"/>
            <a:ext cx="544068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4944" y="303580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23B5D"/>
                </a:solidFill>
                <a:latin typeface="微软雅黑"/>
                <a:ea typeface="微软雅黑"/>
              </a:rPr>
              <a:t>evidence-leader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4720" y="3035808"/>
            <a:ext cx="1234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7B8B9B"/>
                </a:solidFill>
                <a:latin typeface="微软雅黑"/>
                <a:ea typeface="微软雅黑"/>
              </a:rPr>
              <a:t>8450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26279" y="3035808"/>
            <a:ext cx="1325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2A9D8F"/>
                </a:solidFill>
                <a:latin typeface="微软雅黑"/>
                <a:ea typeface="微软雅黑"/>
              </a:rPr>
              <a:t>EvidenceRuling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" y="3346703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7B8B9B"/>
                </a:solidFill>
                <a:latin typeface="微软雅黑"/>
                <a:ea typeface="微软雅黑"/>
              </a:rPr>
              <a:t>证据汇总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2944368"/>
            <a:ext cx="544068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64224" y="303580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23B5D"/>
                </a:solidFill>
                <a:latin typeface="微软雅黑"/>
                <a:ea typeface="微软雅黑"/>
              </a:rPr>
              <a:t>evidence-image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3035808"/>
            <a:ext cx="1234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7B8B9B"/>
                </a:solidFill>
                <a:latin typeface="微软雅黑"/>
                <a:ea typeface="微软雅黑"/>
              </a:rPr>
              <a:t>8449 · s2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95559" y="3035808"/>
            <a:ext cx="1325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2A9D8F"/>
                </a:solidFill>
                <a:latin typeface="微软雅黑"/>
                <a:ea typeface="微软雅黑"/>
              </a:rPr>
              <a:t>模态线索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64224" y="3346703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7B8B9B"/>
                </a:solidFill>
                <a:latin typeface="微软雅黑"/>
                <a:ea typeface="微软雅黑"/>
              </a:rPr>
              <a:t>图像鉴伪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3785616"/>
            <a:ext cx="544068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4944" y="3877056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23B5D"/>
                </a:solidFill>
                <a:latin typeface="微软雅黑"/>
                <a:ea typeface="微软雅黑"/>
              </a:rPr>
              <a:t>evidence-audio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74720" y="3877056"/>
            <a:ext cx="1234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7B8B9B"/>
                </a:solidFill>
                <a:latin typeface="微软雅黑"/>
                <a:ea typeface="微软雅黑"/>
              </a:rPr>
              <a:t>8451 · s2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26279" y="3877056"/>
            <a:ext cx="1325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2A9D8F"/>
                </a:solidFill>
                <a:latin typeface="微软雅黑"/>
                <a:ea typeface="微软雅黑"/>
              </a:rPr>
              <a:t>模态线索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4944" y="4187952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7B8B9B"/>
                </a:solidFill>
                <a:latin typeface="微软雅黑"/>
                <a:ea typeface="微软雅黑"/>
              </a:rPr>
              <a:t>音频鉴伪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17920" y="3785616"/>
            <a:ext cx="544068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64224" y="3877056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23B5D"/>
                </a:solidFill>
                <a:latin typeface="微软雅黑"/>
                <a:ea typeface="微软雅黑"/>
              </a:rPr>
              <a:t>evidence-video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0" y="3877056"/>
            <a:ext cx="1234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7B8B9B"/>
                </a:solidFill>
                <a:latin typeface="微软雅黑"/>
                <a:ea typeface="微软雅黑"/>
              </a:rPr>
              <a:t>8452 · s2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195559" y="3877056"/>
            <a:ext cx="1325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2A9D8F"/>
                </a:solidFill>
                <a:latin typeface="微软雅黑"/>
                <a:ea typeface="微软雅黑"/>
              </a:rPr>
              <a:t>模态线索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64224" y="4187952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7B8B9B"/>
                </a:solidFill>
                <a:latin typeface="微软雅黑"/>
                <a:ea typeface="微软雅黑"/>
              </a:rPr>
              <a:t>视频鉴伪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48640" y="4626864"/>
            <a:ext cx="544068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94944" y="4718304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23B5D"/>
                </a:solidFill>
                <a:latin typeface="微软雅黑"/>
                <a:ea typeface="微软雅黑"/>
              </a:rPr>
              <a:t>law-advisor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474720" y="4718304"/>
            <a:ext cx="1234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7B8B9B"/>
                </a:solidFill>
                <a:latin typeface="微软雅黑"/>
                <a:ea typeface="微软雅黑"/>
              </a:rPr>
              <a:t>8453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26279" y="4718304"/>
            <a:ext cx="1325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2A9D8F"/>
                </a:solidFill>
                <a:latin typeface="微软雅黑"/>
                <a:ea typeface="微软雅黑"/>
              </a:rPr>
              <a:t>LegalAdvice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4944" y="5029200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7B8B9B"/>
                </a:solidFill>
                <a:latin typeface="微软雅黑"/>
                <a:ea typeface="微软雅黑"/>
              </a:rPr>
              <a:t>法律建议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217920" y="4626864"/>
            <a:ext cx="544068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64224" y="4718304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23B5D"/>
                </a:solidFill>
                <a:latin typeface="微软雅黑"/>
                <a:ea typeface="微软雅黑"/>
              </a:rPr>
              <a:t>lead-intake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44000" y="4718304"/>
            <a:ext cx="1234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7B8B9B"/>
                </a:solidFill>
                <a:latin typeface="微软雅黑"/>
                <a:ea typeface="微软雅黑"/>
              </a:rPr>
              <a:t>8454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195559" y="4718304"/>
            <a:ext cx="1325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2A9D8F"/>
                </a:solidFill>
                <a:latin typeface="微软雅黑"/>
                <a:ea typeface="微软雅黑"/>
              </a:rPr>
              <a:t>LeadSubmission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64224" y="5029200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7B8B9B"/>
                </a:solidFill>
                <a:latin typeface="微软雅黑"/>
                <a:ea typeface="微软雅黑"/>
              </a:rPr>
              <a:t>线索受理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8640" y="566928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F4E79"/>
                </a:solidFill>
                <a:latin typeface="微软雅黑"/>
                <a:ea typeface="微软雅黑"/>
              </a:rPr>
              <a:t>契约纪律：@capability 不是计算逻辑，而是模型提交结论的通道；缺字段 / 值域不对 → 模型可读的结构化错误。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" y="6016752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B6B7C"/>
                </a:solidFill>
                <a:latin typeface="微软雅黑"/>
                <a:ea typeface="微软雅黑"/>
              </a:rPr>
              <a:t>FinalVerdict 保留 is_incitement / harm_index 仅作兼容；两个评估角色软废弃后，这两个字段固定 false / 0，不再承担主指标。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48640" y="6455664"/>
            <a:ext cx="11091672" cy="7315"/>
          </a:xfrm>
          <a:prstGeom prst="rect">
            <a:avLst/>
          </a:prstGeom>
          <a:solidFill>
            <a:srgbClr val="D4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48640" y="651052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7B8B9B"/>
                </a:solidFill>
                <a:latin typeface="微软雅黑"/>
                <a:ea typeface="微软雅黑"/>
              </a:rPr>
              <a:t>法前哨 · 技术方案 v1.0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378440" y="6510528"/>
            <a:ext cx="1234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7B8B9B"/>
                </a:solidFill>
                <a:latin typeface="微软雅黑"/>
                <a:ea typeface="微软雅黑"/>
              </a:rPr>
              <a:t>06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A9D8F"/>
                </a:solidFill>
                <a:latin typeface="微软雅黑"/>
                <a:ea typeface="微软雅黑"/>
              </a:rPr>
              <a:t>03 / 技术方案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23B5D"/>
                </a:solidFill>
                <a:latin typeface="微软雅黑"/>
                <a:ea typeface="微软雅黑"/>
              </a:rPr>
              <a:t>机制 1：检索优先，辩论只在库外发生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78992"/>
            <a:ext cx="11091672" cy="10972"/>
          </a:xfrm>
          <a:prstGeom prst="rect">
            <a:avLst/>
          </a:prstGeom>
          <a:solidFill>
            <a:srgbClr val="D4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2423160" cy="77724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 w="12700">
            <a:solidFill>
              <a:srgbClr val="D4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1F4E79"/>
                </a:solidFill>
                <a:latin typeface="微软雅黑"/>
                <a:ea typeface="微软雅黑"/>
              </a:rPr>
              <a:t>事实库 / 经验库对齐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11880" y="1463040"/>
            <a:ext cx="2423160" cy="777240"/>
          </a:xfrm>
          <a:prstGeom prst="roundRect">
            <a:avLst>
              <a:gd name="adj" fmla="val 8000"/>
            </a:avLst>
          </a:prstGeom>
          <a:solidFill>
            <a:srgbClr val="E6F4F0"/>
          </a:solidFill>
          <a:ln w="12700">
            <a:solidFill>
              <a:srgbClr val="D4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03320" y="1645920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2A9D8F"/>
                </a:solidFill>
                <a:latin typeface="微软雅黑"/>
                <a:ea typeface="微软雅黑"/>
              </a:rPr>
              <a:t>命中：快车道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1463040"/>
            <a:ext cx="242316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59" y="1645920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5B6B7C"/>
                </a:solidFill>
                <a:latin typeface="微软雅黑"/>
                <a:ea typeface="微软雅黑"/>
              </a:rPr>
              <a:t>FactRuling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017520" y="1755648"/>
            <a:ext cx="457200" cy="237744"/>
          </a:xfrm>
          <a:prstGeom prst="rightArrow">
            <a:avLst/>
          </a:prstGeom>
          <a:solidFill>
            <a:srgbClr val="B9CB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ight Arrow 11"/>
          <p:cNvSpPr/>
          <p:nvPr/>
        </p:nvSpPr>
        <p:spPr>
          <a:xfrm>
            <a:off x="6080760" y="1755648"/>
            <a:ext cx="457200" cy="237744"/>
          </a:xfrm>
          <a:prstGeom prst="rightArrow">
            <a:avLst/>
          </a:prstGeom>
          <a:solidFill>
            <a:srgbClr val="B9CB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" y="3063240"/>
            <a:ext cx="242316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246120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5B6B7C"/>
                </a:solidFill>
                <a:latin typeface="微软雅黑"/>
                <a:ea typeface="微软雅黑"/>
              </a:rPr>
              <a:t>未命中：正反辩论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11880" y="3063240"/>
            <a:ext cx="242316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03320" y="3246120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5B6B7C"/>
                </a:solidFill>
                <a:latin typeface="微软雅黑"/>
                <a:ea typeface="微软雅黑"/>
              </a:rPr>
              <a:t>辩手结构化回传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3063240"/>
            <a:ext cx="242316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59" y="3246120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5B6B7C"/>
                </a:solidFill>
                <a:latin typeface="微软雅黑"/>
                <a:ea typeface="微软雅黑"/>
              </a:rPr>
              <a:t>FactRuling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3017520" y="3355848"/>
            <a:ext cx="457200" cy="237744"/>
          </a:xfrm>
          <a:prstGeom prst="rightArrow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ight Arrow 19"/>
          <p:cNvSpPr/>
          <p:nvPr/>
        </p:nvSpPr>
        <p:spPr>
          <a:xfrm>
            <a:off x="6080760" y="3355848"/>
            <a:ext cx="457200" cy="237744"/>
          </a:xfrm>
          <a:prstGeom prst="rightArrow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2395728"/>
            <a:ext cx="4754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A9D8F"/>
                </a:solidFill>
                <a:latin typeface="微软雅黑"/>
                <a:ea typeface="微软雅黑"/>
              </a:rPr>
              <a:t>快车道：跳过辩手，直接出裁定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4005072"/>
            <a:ext cx="5120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E9A23B"/>
                </a:solidFill>
                <a:latin typeface="微软雅黑"/>
                <a:ea typeface="微软雅黑"/>
              </a:rPr>
              <a:t>辩论道：正反并发扇出，回齐后裁定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418320" y="1417320"/>
            <a:ext cx="2240280" cy="3520440"/>
          </a:xfrm>
          <a:prstGeom prst="roundRect">
            <a:avLst>
              <a:gd name="adj" fmla="val 8000"/>
            </a:avLst>
          </a:prstGeom>
          <a:solidFill>
            <a:srgbClr val="FFF6E6"/>
          </a:solidFill>
          <a:ln w="12700">
            <a:solidFill>
              <a:srgbClr val="F0D2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0" y="157276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7A4A12"/>
                </a:solidFill>
                <a:latin typeface="微软雅黑"/>
                <a:ea typeface="微软雅黑"/>
              </a:rPr>
              <a:t>防自我确认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55480" y="1938528"/>
            <a:ext cx="196596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900" b="1">
                <a:solidFill>
                  <a:srgbClr val="2A9D8F"/>
                </a:solidFill>
                <a:latin typeface="微软雅黑"/>
                <a:ea typeface="微软雅黑"/>
              </a:rPr>
              <a:t>• </a:t>
            </a:r>
            <a:r>
              <a:rPr sz="900" b="0">
                <a:solidFill>
                  <a:srgbClr val="7A5A32"/>
                </a:solidFill>
                <a:latin typeface="微软雅黑"/>
                <a:ea typeface="微软雅黑"/>
              </a:rPr>
              <a:t>只有辩论道产出或人工核 gt 的裁定，才有快裁资格。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900" b="1">
                <a:solidFill>
                  <a:srgbClr val="2A9D8F"/>
                </a:solidFill>
                <a:latin typeface="微软雅黑"/>
                <a:ea typeface="微软雅黑"/>
              </a:rPr>
              <a:t>• </a:t>
            </a:r>
            <a:r>
              <a:rPr sz="900" b="0">
                <a:solidFill>
                  <a:srgbClr val="7A5A32"/>
                </a:solidFill>
                <a:latin typeface="微软雅黑"/>
                <a:ea typeface="微软雅黑"/>
              </a:rPr>
              <a:t>快裁自己的裁定进池，但永不触发快裁。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900" b="1">
                <a:solidFill>
                  <a:srgbClr val="2A9D8F"/>
                </a:solidFill>
                <a:latin typeface="微软雅黑"/>
                <a:ea typeface="微软雅黑"/>
              </a:rPr>
              <a:t>• </a:t>
            </a:r>
            <a:r>
              <a:rPr sz="900" b="0">
                <a:solidFill>
                  <a:srgbClr val="7A5A32"/>
                </a:solidFill>
                <a:latin typeface="微软雅黑"/>
                <a:ea typeface="微软雅黑"/>
              </a:rPr>
              <a:t>库外事件允许“无法判定”，不硬判。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98932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2A9D8F"/>
                </a:solidFill>
                <a:latin typeface="微软雅黑"/>
                <a:ea typeface="微软雅黑"/>
              </a:rPr>
              <a:t>检索不是“替代思考”，而是把有限的辩论预算留给库外新案。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6455664"/>
            <a:ext cx="11091672" cy="7315"/>
          </a:xfrm>
          <a:prstGeom prst="rect">
            <a:avLst/>
          </a:prstGeom>
          <a:solidFill>
            <a:srgbClr val="D4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651052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7B8B9B"/>
                </a:solidFill>
                <a:latin typeface="微软雅黑"/>
                <a:ea typeface="微软雅黑"/>
              </a:rPr>
              <a:t>法前哨 · 技术方案 v1.0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78440" y="6510528"/>
            <a:ext cx="1234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7B8B9B"/>
                </a:solidFill>
                <a:latin typeface="微软雅黑"/>
                <a:ea typeface="微软雅黑"/>
              </a:rPr>
              <a:t>07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A9D8F"/>
                </a:solidFill>
                <a:latin typeface="微软雅黑"/>
                <a:ea typeface="微软雅黑"/>
              </a:rPr>
              <a:t>03 / 技术方案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23B5D"/>
                </a:solidFill>
                <a:latin typeface="微软雅黑"/>
                <a:ea typeface="微软雅黑"/>
              </a:rPr>
              <a:t>机制 2：委托链安全（身份、链深、跨进程）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78992"/>
            <a:ext cx="11091672" cy="10972"/>
          </a:xfrm>
          <a:prstGeom prst="rect">
            <a:avLst/>
          </a:prstGeom>
          <a:solidFill>
            <a:srgbClr val="D4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3566160" cy="4069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280160"/>
            <a:ext cx="3566160" cy="82296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490472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23B5D"/>
                </a:solidFill>
                <a:latin typeface="微软雅黑"/>
                <a:ea typeface="微软雅黑"/>
              </a:rPr>
              <a:t>身份闸门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874519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A9D8F"/>
                </a:solidFill>
                <a:latin typeface="微软雅黑"/>
                <a:ea typeface="微软雅黑"/>
              </a:rPr>
              <a:t>mTLS + AIC：证书 CN/SAN 写身份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331720"/>
            <a:ext cx="315468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150" b="1">
                <a:solidFill>
                  <a:srgbClr val="2A9D8F"/>
                </a:solidFill>
                <a:latin typeface="微软雅黑"/>
                <a:ea typeface="微软雅黑"/>
              </a:rPr>
              <a:t>• </a:t>
            </a:r>
            <a:r>
              <a:rPr sz="1150" b="0">
                <a:solidFill>
                  <a:srgbClr val="5B6B7C"/>
                </a:solidFill>
                <a:latin typeface="微软雅黑"/>
                <a:ea typeface="微软雅黑"/>
              </a:rPr>
              <a:t>目标 AIC 必须属于本账号前缀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150" b="1">
                <a:solidFill>
                  <a:srgbClr val="2A9D8F"/>
                </a:solidFill>
                <a:latin typeface="微软雅黑"/>
                <a:ea typeface="微软雅黑"/>
              </a:rPr>
              <a:t>• </a:t>
            </a:r>
            <a:r>
              <a:rPr sz="1150" b="0">
                <a:solidFill>
                  <a:srgbClr val="5B6B7C"/>
                </a:solidFill>
                <a:latin typeface="微软雅黑"/>
                <a:ea typeface="微软雅黑"/>
              </a:rPr>
              <a:t>拦 discovery 召回到的外部团队 Agent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150" b="1">
                <a:solidFill>
                  <a:srgbClr val="2A9D8F"/>
                </a:solidFill>
                <a:latin typeface="微软雅黑"/>
                <a:ea typeface="微软雅黑"/>
              </a:rPr>
              <a:t>• </a:t>
            </a:r>
            <a:r>
              <a:rPr sz="1150" b="0">
                <a:solidFill>
                  <a:srgbClr val="5B6B7C"/>
                </a:solidFill>
                <a:latin typeface="微软雅黑"/>
                <a:ea typeface="微软雅黑"/>
              </a:rPr>
              <a:t>委托链白名单 + 平台审核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79" y="1280160"/>
            <a:ext cx="3566160" cy="4069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79" y="1280160"/>
            <a:ext cx="3566160" cy="82296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98847" y="1490472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23B5D"/>
                </a:solidFill>
                <a:latin typeface="微软雅黑"/>
                <a:ea typeface="微软雅黑"/>
              </a:rPr>
              <a:t>链深与环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8847" y="1874519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E9A23B"/>
                </a:solidFill>
                <a:latin typeface="微软雅黑"/>
                <a:ea typeface="微软雅黑"/>
              </a:rPr>
              <a:t>MAX_CHAIN_DEPTH =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8847" y="2331720"/>
            <a:ext cx="315468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150" b="1">
                <a:solidFill>
                  <a:srgbClr val="2A9D8F"/>
                </a:solidFill>
                <a:latin typeface="微软雅黑"/>
                <a:ea typeface="微软雅黑"/>
              </a:rPr>
              <a:t>• </a:t>
            </a:r>
            <a:r>
              <a:rPr sz="1150" b="0">
                <a:solidFill>
                  <a:srgbClr val="5B6B7C"/>
                </a:solidFill>
                <a:latin typeface="微软雅黑"/>
                <a:ea typeface="微软雅黑"/>
              </a:rPr>
              <a:t>主控(1) → 内层 Leader(2) → 叶子(3)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150" b="1">
                <a:solidFill>
                  <a:srgbClr val="2A9D8F"/>
                </a:solidFill>
                <a:latin typeface="微软雅黑"/>
                <a:ea typeface="微软雅黑"/>
              </a:rPr>
              <a:t>• </a:t>
            </a:r>
            <a:r>
              <a:rPr sz="1150" b="0">
                <a:solidFill>
                  <a:srgbClr val="5B6B7C"/>
                </a:solidFill>
                <a:latin typeface="微软雅黑"/>
                <a:ea typeface="微软雅黑"/>
              </a:rPr>
              <a:t>扇出不等于链深；失败重试放行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150" b="1">
                <a:solidFill>
                  <a:srgbClr val="2A9D8F"/>
                </a:solidFill>
                <a:latin typeface="微软雅黑"/>
                <a:ea typeface="微软雅黑"/>
              </a:rPr>
              <a:t>• </a:t>
            </a:r>
            <a:r>
              <a:rPr sz="1150" b="0">
                <a:solidFill>
                  <a:srgbClr val="5B6B7C"/>
                </a:solidFill>
                <a:latin typeface="微软雅黑"/>
                <a:ea typeface="微软雅黑"/>
              </a:rPr>
              <a:t>越界 / 成环 → 结构化错误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19" y="1280160"/>
            <a:ext cx="3566160" cy="4069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19" y="1280160"/>
            <a:ext cx="3566160" cy="82296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8" y="1490472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23B5D"/>
                </a:solidFill>
                <a:latin typeface="微软雅黑"/>
                <a:ea typeface="微软雅黑"/>
              </a:rPr>
              <a:t>跨进程链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1874519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A9D8F"/>
                </a:solidFill>
                <a:latin typeface="微软雅黑"/>
                <a:ea typeface="微软雅黑"/>
              </a:rPr>
              <a:t>DataPart 携带 debate_chain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331720"/>
            <a:ext cx="315468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150" b="1">
                <a:solidFill>
                  <a:srgbClr val="2A9D8F"/>
                </a:solidFill>
                <a:latin typeface="微软雅黑"/>
                <a:ea typeface="微软雅黑"/>
              </a:rPr>
              <a:t>• </a:t>
            </a:r>
            <a:r>
              <a:rPr sz="1150" b="0">
                <a:solidFill>
                  <a:srgbClr val="5B6B7C"/>
                </a:solidFill>
                <a:latin typeface="微软雅黑"/>
                <a:ea typeface="微软雅黑"/>
              </a:rPr>
              <a:t>出站把链并进 acps_delegate 的 request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150" b="1">
                <a:solidFill>
                  <a:srgbClr val="2A9D8F"/>
                </a:solidFill>
                <a:latin typeface="微软雅黑"/>
                <a:ea typeface="微软雅黑"/>
              </a:rPr>
              <a:t>• </a:t>
            </a:r>
            <a:r>
              <a:rPr sz="1150" b="0">
                <a:solidFill>
                  <a:srgbClr val="5B6B7C"/>
                </a:solidFill>
                <a:latin typeface="微软雅黑"/>
                <a:ea typeface="微软雅黑"/>
              </a:rPr>
              <a:t>入站由 Hook 挑回，不认正文自报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150" b="1">
                <a:solidFill>
                  <a:srgbClr val="2A9D8F"/>
                </a:solidFill>
                <a:latin typeface="微软雅黑"/>
                <a:ea typeface="微软雅黑"/>
              </a:rPr>
              <a:t>• </a:t>
            </a:r>
            <a:r>
              <a:rPr sz="1150" b="0">
                <a:solidFill>
                  <a:srgbClr val="5B6B7C"/>
                </a:solidFill>
                <a:latin typeface="微软雅黑"/>
                <a:ea typeface="微软雅黑"/>
              </a:rPr>
              <a:t>跨机 / 跨进程都不丢链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623560"/>
            <a:ext cx="11064240" cy="50292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742432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23B5D"/>
                </a:solidFill>
                <a:latin typeface="微软雅黑"/>
                <a:ea typeface="微软雅黑"/>
              </a:rPr>
              <a:t>把安全做成结构，不做成纪律。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6455664"/>
            <a:ext cx="11091672" cy="7315"/>
          </a:xfrm>
          <a:prstGeom prst="rect">
            <a:avLst/>
          </a:prstGeom>
          <a:solidFill>
            <a:srgbClr val="D4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651052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7B8B9B"/>
                </a:solidFill>
                <a:latin typeface="微软雅黑"/>
                <a:ea typeface="微软雅黑"/>
              </a:rPr>
              <a:t>法前哨 · 技术方案 v1.0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78440" y="6510528"/>
            <a:ext cx="1234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7B8B9B"/>
                </a:solidFill>
                <a:latin typeface="微软雅黑"/>
                <a:ea typeface="微软雅黑"/>
              </a:rPr>
              <a:t>08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A9D8F"/>
                </a:solidFill>
                <a:latin typeface="微软雅黑"/>
                <a:ea typeface="微软雅黑"/>
              </a:rPr>
              <a:t>03 / 技术方案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23B5D"/>
                </a:solidFill>
                <a:latin typeface="微软雅黑"/>
                <a:ea typeface="微软雅黑"/>
              </a:rPr>
              <a:t>机制 3：五层终止，保证“一定交付”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78992"/>
            <a:ext cx="11091672" cy="10972"/>
          </a:xfrm>
          <a:prstGeom prst="rect">
            <a:avLst/>
          </a:prstGeom>
          <a:solidFill>
            <a:srgbClr val="D4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261872"/>
            <a:ext cx="690372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13232" y="1408175"/>
            <a:ext cx="420624" cy="420624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472184"/>
            <a:ext cx="4206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" y="137160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23B5D"/>
                </a:solidFill>
                <a:latin typeface="微软雅黑"/>
                <a:ea typeface="微软雅黑"/>
              </a:rPr>
              <a:t>工具收敛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1371600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5B6B7C"/>
                </a:solidFill>
                <a:latin typeface="微软雅黑"/>
                <a:ea typeface="微软雅黑"/>
              </a:rPr>
              <a:t>本轮可用工具收敛到只剩结论工具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139696"/>
            <a:ext cx="690372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13232" y="2286000"/>
            <a:ext cx="420624" cy="420624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2350008"/>
            <a:ext cx="4206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2249424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23B5D"/>
                </a:solidFill>
                <a:latin typeface="微软雅黑"/>
                <a:ea typeface="微软雅黑"/>
              </a:rPr>
              <a:t>强提示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2249424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5B6B7C"/>
                </a:solidFill>
                <a:latin typeface="微软雅黑"/>
                <a:ea typeface="微软雅黑"/>
              </a:rPr>
              <a:t>system 提示：必须现在交结论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017520"/>
            <a:ext cx="690372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3232" y="3163824"/>
            <a:ext cx="420624" cy="420624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3227832"/>
            <a:ext cx="4206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98448" y="3127248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23B5D"/>
                </a:solidFill>
                <a:latin typeface="微软雅黑"/>
                <a:ea typeface="微软雅黑"/>
              </a:rPr>
              <a:t>预算兜底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3127248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5B6B7C"/>
                </a:solidFill>
                <a:latin typeface="微软雅黑"/>
                <a:ea typeface="微软雅黑"/>
              </a:rPr>
              <a:t>专家未回 + 只剩 1–2 步：强制，并标注信息不完整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895344"/>
            <a:ext cx="690372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3232" y="4041648"/>
            <a:ext cx="420624" cy="420624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4105656"/>
            <a:ext cx="4206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98448" y="400507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23B5D"/>
                </a:solidFill>
                <a:latin typeface="微软雅黑"/>
                <a:ea typeface="微软雅黑"/>
              </a:rPr>
              <a:t>提交后清空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0" y="4005072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5B6B7C"/>
                </a:solidFill>
                <a:latin typeface="微软雅黑"/>
                <a:ea typeface="微软雅黑"/>
              </a:rPr>
              <a:t>结论提交后清空工具，只能文本收尾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773168"/>
            <a:ext cx="690372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13232" y="4919472"/>
            <a:ext cx="420624" cy="420624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" y="4983480"/>
            <a:ext cx="4206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98448" y="488289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23B5D"/>
                </a:solidFill>
                <a:latin typeface="微软雅黑"/>
                <a:ea typeface="微软雅黑"/>
              </a:rPr>
              <a:t>程序兜底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0" y="4882896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5B6B7C"/>
                </a:solidFill>
                <a:latin typeface="微软雅黑"/>
                <a:ea typeface="微软雅黑"/>
              </a:rPr>
              <a:t>从专家载荷拼 FinalVerdict，标注“程序兜底生成”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18120" y="1280160"/>
            <a:ext cx="3794760" cy="342900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 w="12700">
            <a:solidFill>
              <a:srgbClr val="C9D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28431" y="1444752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23B5D"/>
                </a:solidFill>
                <a:latin typeface="微软雅黑"/>
                <a:ea typeface="微软雅黑"/>
              </a:rPr>
              <a:t>裁判定向追问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28431" y="1874519"/>
            <a:ext cx="329184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050" b="1">
                <a:solidFill>
                  <a:srgbClr val="2A9D8F"/>
                </a:solidFill>
                <a:latin typeface="微软雅黑"/>
                <a:ea typeface="微软雅黑"/>
              </a:rPr>
              <a:t>• </a:t>
            </a:r>
            <a:r>
              <a:rPr sz="1050" b="0">
                <a:solidFill>
                  <a:srgbClr val="5B6B7C"/>
                </a:solidFill>
                <a:latin typeface="微软雅黑"/>
                <a:ea typeface="微软雅黑"/>
              </a:rPr>
              <a:t>双方回齐后、裁定前，允许一次追问。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050" b="1">
                <a:solidFill>
                  <a:srgbClr val="2A9D8F"/>
                </a:solidFill>
                <a:latin typeface="微软雅黑"/>
                <a:ea typeface="微软雅黑"/>
              </a:rPr>
              <a:t>• </a:t>
            </a:r>
            <a:r>
              <a:rPr sz="1050" b="0">
                <a:solidFill>
                  <a:srgbClr val="5B6B7C"/>
                </a:solidFill>
                <a:latin typeface="微软雅黑"/>
                <a:ea typeface="微软雅黑"/>
              </a:rPr>
              <a:t>默认关闭；裁判 followup_rounds=1。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050" b="1">
                <a:solidFill>
                  <a:srgbClr val="2A9D8F"/>
                </a:solidFill>
                <a:latin typeface="微软雅黑"/>
                <a:ea typeface="微软雅黑"/>
              </a:rPr>
              <a:t>• </a:t>
            </a:r>
            <a:r>
              <a:rPr sz="1050" b="0">
                <a:solidFill>
                  <a:srgbClr val="5B6B7C"/>
                </a:solidFill>
                <a:latin typeface="微软雅黑"/>
                <a:ea typeface="微软雅黑"/>
              </a:rPr>
              <a:t>追问不透露对方论点。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050" b="1">
                <a:solidFill>
                  <a:srgbClr val="2A9D8F"/>
                </a:solidFill>
                <a:latin typeface="微软雅黑"/>
                <a:ea typeface="微软雅黑"/>
              </a:rPr>
              <a:t>• </a:t>
            </a:r>
            <a:r>
              <a:rPr sz="1050" b="0">
                <a:solidFill>
                  <a:srgbClr val="5B6B7C"/>
                </a:solidFill>
                <a:latin typeface="微软雅黑"/>
                <a:ea typeface="微软雅黑"/>
              </a:rPr>
              <a:t>预算余量不足 2 步，不 offer。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28431" y="4069080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5B6B7C"/>
                </a:solidFill>
                <a:latin typeface="微软雅黑"/>
                <a:ea typeface="微软雅黑"/>
              </a:rPr>
              <a:t>追问不是新任务，只补一个事实缺口；</a:t>
            </a:r>
          </a:p>
          <a:p>
            <a:pPr algn="l">
              <a:lnSpc>
                <a:spcPct val="115000"/>
              </a:lnSpc>
            </a:pPr>
            <a:r>
              <a:rPr sz="950" b="0">
                <a:solidFill>
                  <a:srgbClr val="5B6B7C"/>
                </a:solidFill>
                <a:latin typeface="微软雅黑"/>
                <a:ea typeface="微软雅黑"/>
              </a:rPr>
              <a:t>仍不交 → 回到五层兜底。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594360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2A9D8F"/>
                </a:solidFill>
                <a:latin typeface="微软雅黑"/>
                <a:ea typeface="微软雅黑"/>
              </a:rPr>
              <a:t>目标不是“让模型更自觉”，而是让它在任何情况下都能交出一个可审计的结果。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6455664"/>
            <a:ext cx="11091672" cy="7315"/>
          </a:xfrm>
          <a:prstGeom prst="rect">
            <a:avLst/>
          </a:prstGeom>
          <a:solidFill>
            <a:srgbClr val="D4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651052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7B8B9B"/>
                </a:solidFill>
                <a:latin typeface="微软雅黑"/>
                <a:ea typeface="微软雅黑"/>
              </a:rPr>
              <a:t>法前哨 · 技术方案 v1.0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78440" y="6510528"/>
            <a:ext cx="1234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7B8B9B"/>
                </a:solidFill>
                <a:latin typeface="微软雅黑"/>
                <a:ea typeface="微软雅黑"/>
              </a:rPr>
              <a:t>09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A9D8F"/>
                </a:solidFill>
                <a:latin typeface="微软雅黑"/>
                <a:ea typeface="微软雅黑"/>
              </a:rPr>
              <a:t>03 / 技术方案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23B5D"/>
                </a:solidFill>
                <a:latin typeface="微软雅黑"/>
                <a:ea typeface="微软雅黑"/>
              </a:rPr>
              <a:t>机制 4/5：鉴伪给线索，法律给方向，全程留痕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78992"/>
            <a:ext cx="11091672" cy="10972"/>
          </a:xfrm>
          <a:prstGeom prst="rect">
            <a:avLst/>
          </a:prstGeom>
          <a:solidFill>
            <a:srgbClr val="D4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3566160" cy="4069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280160"/>
            <a:ext cx="3566160" cy="82296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490472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23B5D"/>
                </a:solidFill>
                <a:latin typeface="微软雅黑"/>
                <a:ea typeface="微软雅黑"/>
              </a:rPr>
              <a:t>证据鉴伪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856231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A9D8F"/>
                </a:solidFill>
                <a:latin typeface="微软雅黑"/>
                <a:ea typeface="微软雅黑"/>
              </a:rPr>
              <a:t>只给技术线索，不给“真/假”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286000"/>
            <a:ext cx="315468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050" b="1">
                <a:solidFill>
                  <a:srgbClr val="2A9D8F"/>
                </a:solidFill>
                <a:latin typeface="微软雅黑"/>
                <a:ea typeface="微软雅黑"/>
              </a:rPr>
              <a:t>• </a:t>
            </a:r>
            <a:r>
              <a:rPr sz="1050" b="0">
                <a:solidFill>
                  <a:srgbClr val="5B6B7C"/>
                </a:solidFill>
                <a:latin typeface="微软雅黑"/>
                <a:ea typeface="微软雅黑"/>
              </a:rPr>
              <a:t>图像：EXIF/XMP、ELA、噪声、JPEG 量化表、复制-移动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050" b="1">
                <a:solidFill>
                  <a:srgbClr val="2A9D8F"/>
                </a:solidFill>
                <a:latin typeface="微软雅黑"/>
                <a:ea typeface="微软雅黑"/>
              </a:rPr>
              <a:t>• </a:t>
            </a:r>
            <a:r>
              <a:rPr sz="1050" b="0">
                <a:solidFill>
                  <a:srgbClr val="5B6B7C"/>
                </a:solidFill>
                <a:latin typeface="微软雅黑"/>
                <a:ea typeface="微软雅黑"/>
              </a:rPr>
              <a:t>音频：容器/编码、频谱、底噪、市电、波形域九项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050" b="1">
                <a:solidFill>
                  <a:srgbClr val="2A9D8F"/>
                </a:solidFill>
                <a:latin typeface="微软雅黑"/>
                <a:ea typeface="微软雅黑"/>
              </a:rPr>
              <a:t>• </a:t>
            </a:r>
            <a:r>
              <a:rPr sz="1050" b="0">
                <a:solidFill>
                  <a:srgbClr val="5B6B7C"/>
                </a:solidFill>
                <a:latin typeface="微软雅黑"/>
                <a:ea typeface="微软雅黑"/>
              </a:rPr>
              <a:t>视频：容器七项 + 可零解码帧、时间线自洽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050" b="1">
                <a:solidFill>
                  <a:srgbClr val="2A9D8F"/>
                </a:solidFill>
                <a:latin typeface="微软雅黑"/>
                <a:ea typeface="微软雅黑"/>
              </a:rPr>
              <a:t>• </a:t>
            </a:r>
            <a:r>
              <a:rPr sz="1050" b="0">
                <a:solidFill>
                  <a:srgbClr val="5B6B7C"/>
                </a:solidFill>
                <a:latin typeface="微软雅黑"/>
                <a:ea typeface="微软雅黑"/>
              </a:rPr>
              <a:t>每条线索带 caveat；没跑成的进 not_run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4572000"/>
            <a:ext cx="3154680" cy="438912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4681728"/>
            <a:ext cx="2971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1F4E79"/>
                </a:solidFill>
                <a:latin typeface="微软雅黑"/>
                <a:ea typeface="微软雅黑"/>
              </a:rPr>
              <a:t>判据：suspicion=无法判定 必须列 not_run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79" y="1280160"/>
            <a:ext cx="3566160" cy="4069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79" y="1280160"/>
            <a:ext cx="3566160" cy="82296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98847" y="1490472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23B5D"/>
                </a:solidFill>
                <a:latin typeface="微软雅黑"/>
                <a:ea typeface="微软雅黑"/>
              </a:rPr>
              <a:t>法律建议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8847" y="1856231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F4E79"/>
                </a:solidFill>
                <a:latin typeface="微软雅黑"/>
                <a:ea typeface="微软雅黑"/>
              </a:rPr>
              <a:t>库内法条，逐字引用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8847" y="2286000"/>
            <a:ext cx="315468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050" b="1">
                <a:solidFill>
                  <a:srgbClr val="2A9D8F"/>
                </a:solidFill>
                <a:latin typeface="微软雅黑"/>
                <a:ea typeface="微软雅黑"/>
              </a:rPr>
              <a:t>• </a:t>
            </a:r>
            <a:r>
              <a:rPr sz="1050" b="0">
                <a:solidFill>
                  <a:srgbClr val="5B6B7C"/>
                </a:solidFill>
                <a:latin typeface="微软雅黑"/>
                <a:ea typeface="微软雅黑"/>
              </a:rPr>
              <a:t>只引 8 部库内法律，逐字摘录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050" b="1">
                <a:solidFill>
                  <a:srgbClr val="2A9D8F"/>
                </a:solidFill>
                <a:latin typeface="微软雅黑"/>
                <a:ea typeface="微软雅黑"/>
              </a:rPr>
              <a:t>• </a:t>
            </a:r>
            <a:r>
              <a:rPr sz="1050" b="0">
                <a:solidFill>
                  <a:srgbClr val="5B6B7C"/>
                </a:solidFill>
                <a:latin typeface="微软雅黑"/>
                <a:ea typeface="微软雅黑"/>
              </a:rPr>
              <a:t>库内没有的领域：applicable=False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050" b="1">
                <a:solidFill>
                  <a:srgbClr val="2A9D8F"/>
                </a:solidFill>
                <a:latin typeface="微软雅黑"/>
                <a:ea typeface="微软雅黑"/>
              </a:rPr>
              <a:t>• </a:t>
            </a:r>
            <a:r>
              <a:rPr sz="1050" b="0">
                <a:solidFill>
                  <a:srgbClr val="5B6B7C"/>
                </a:solidFill>
                <a:latin typeface="微软雅黑"/>
                <a:ea typeface="微软雅黑"/>
              </a:rPr>
              <a:t>输出行动方向，不替用户定性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050" b="1">
                <a:solidFill>
                  <a:srgbClr val="2A9D8F"/>
                </a:solidFill>
                <a:latin typeface="微软雅黑"/>
                <a:ea typeface="微软雅黑"/>
              </a:rPr>
              <a:t>• </a:t>
            </a:r>
            <a:r>
              <a:rPr sz="1050" b="0">
                <a:solidFill>
                  <a:srgbClr val="5B6B7C"/>
                </a:solidFill>
                <a:latin typeface="微软雅黑"/>
                <a:ea typeface="微软雅黑"/>
              </a:rPr>
              <a:t>不推荐具体律师，只给专业领域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98847" y="4572000"/>
            <a:ext cx="3154680" cy="438912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90288" y="4681728"/>
            <a:ext cx="2971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1F4E79"/>
                </a:solidFill>
                <a:latin typeface="微软雅黑"/>
                <a:ea typeface="微软雅黑"/>
              </a:rPr>
              <a:t>边界：库外 → applicable=False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19" y="1280160"/>
            <a:ext cx="3566160" cy="4069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46719" y="1280160"/>
            <a:ext cx="3566160" cy="82296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47888" y="1490472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23B5D"/>
                </a:solidFill>
                <a:latin typeface="微软雅黑"/>
                <a:ea typeface="微软雅黑"/>
              </a:rPr>
              <a:t>可追溯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47888" y="1856231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E9A23B"/>
                </a:solidFill>
                <a:latin typeface="微软雅黑"/>
                <a:ea typeface="微软雅黑"/>
              </a:rPr>
              <a:t>每一跳都能回到任务与材料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2286000"/>
            <a:ext cx="315468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050" b="1">
                <a:solidFill>
                  <a:srgbClr val="2A9D8F"/>
                </a:solidFill>
                <a:latin typeface="微软雅黑"/>
                <a:ea typeface="微软雅黑"/>
              </a:rPr>
              <a:t>• </a:t>
            </a:r>
            <a:r>
              <a:rPr sz="1050" b="0">
                <a:solidFill>
                  <a:srgbClr val="5B6B7C"/>
                </a:solidFill>
                <a:latin typeface="微软雅黑"/>
                <a:ea typeface="微软雅黑"/>
              </a:rPr>
              <a:t>aip-tasks.sqlite3 是权威事实源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050" b="1">
                <a:solidFill>
                  <a:srgbClr val="2A9D8F"/>
                </a:solidFill>
                <a:latin typeface="微软雅黑"/>
                <a:ea typeface="微软雅黑"/>
              </a:rPr>
              <a:t>• </a:t>
            </a:r>
            <a:r>
              <a:rPr sz="1050" b="0">
                <a:solidFill>
                  <a:srgbClr val="5B6B7C"/>
                </a:solidFill>
                <a:latin typeface="微软雅黑"/>
                <a:ea typeface="微软雅黑"/>
              </a:rPr>
              <a:t>verdict-*.meta.json 与平台会话握手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050" b="1">
                <a:solidFill>
                  <a:srgbClr val="2A9D8F"/>
                </a:solidFill>
                <a:latin typeface="微软雅黑"/>
                <a:ea typeface="微软雅黑"/>
              </a:rPr>
              <a:t>• </a:t>
            </a:r>
            <a:r>
              <a:rPr sz="1050" b="0">
                <a:solidFill>
                  <a:srgbClr val="5B6B7C"/>
                </a:solidFill>
                <a:latin typeface="微软雅黑"/>
                <a:ea typeface="微软雅黑"/>
              </a:rPr>
              <a:t>tools.trace 生成 JSON / Markdown / HTML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050" b="1">
                <a:solidFill>
                  <a:srgbClr val="2A9D8F"/>
                </a:solidFill>
                <a:latin typeface="微软雅黑"/>
                <a:ea typeface="微软雅黑"/>
              </a:rPr>
              <a:t>• </a:t>
            </a:r>
            <a:r>
              <a:rPr sz="1050" b="0">
                <a:solidFill>
                  <a:srgbClr val="5B6B7C"/>
                </a:solidFill>
                <a:latin typeface="微软雅黑"/>
                <a:ea typeface="微软雅黑"/>
              </a:rPr>
              <a:t>演练场三桶隔离 + 强制揭示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47888" y="4572000"/>
            <a:ext cx="3154680" cy="438912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39327" y="4681728"/>
            <a:ext cx="2971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1F4E79"/>
                </a:solidFill>
                <a:latin typeface="微软雅黑"/>
                <a:ea typeface="微软雅黑"/>
              </a:rPr>
              <a:t>锚点：task_ref + event_seq 可回放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76072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2A9D8F"/>
                </a:solidFill>
                <a:latin typeface="微软雅黑"/>
                <a:ea typeface="微软雅黑"/>
              </a:rPr>
              <a:t>鉴伪的“不知道”要写出来；法律的“不适用”要说出来；溯源的“哪一跳”要指出来。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6455664"/>
            <a:ext cx="11091672" cy="7315"/>
          </a:xfrm>
          <a:prstGeom prst="rect">
            <a:avLst/>
          </a:prstGeom>
          <a:solidFill>
            <a:srgbClr val="D4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651052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7B8B9B"/>
                </a:solidFill>
                <a:latin typeface="微软雅黑"/>
                <a:ea typeface="微软雅黑"/>
              </a:rPr>
              <a:t>法前哨 · 技术方案 v1.0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78440" y="6510528"/>
            <a:ext cx="1234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7B8B9B"/>
                </a:solidFill>
                <a:latin typeface="微软雅黑"/>
                <a:ea typeface="微软雅黑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A9D8F"/>
                </a:solidFill>
                <a:latin typeface="微软雅黑"/>
                <a:ea typeface="微软雅黑"/>
              </a:rPr>
              <a:t>04 / 项目实施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23B5D"/>
                </a:solidFill>
                <a:latin typeface="微软雅黑"/>
                <a:ea typeface="微软雅黑"/>
              </a:rPr>
              <a:t>平台接入：注册、发现、跨机、访问都留下证据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78992"/>
            <a:ext cx="11091672" cy="10972"/>
          </a:xfrm>
          <a:prstGeom prst="rect">
            <a:avLst/>
          </a:prstGeom>
          <a:solidFill>
            <a:srgbClr val="D4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325880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A9D8F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32588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23B5D"/>
                </a:solidFill>
                <a:latin typeface="微软雅黑"/>
                <a:ea typeface="微软雅黑"/>
              </a:rPr>
              <a:t>注册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1325880"/>
            <a:ext cx="3931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5B6B7C"/>
                </a:solidFill>
                <a:latin typeface="微软雅黑"/>
                <a:ea typeface="微软雅黑"/>
              </a:rPr>
              <a:t>10 个部署角色 APPROVED/active；法前哨 v1.1.0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286000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A9D8F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28600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23B5D"/>
                </a:solidFill>
                <a:latin typeface="微软雅黑"/>
                <a:ea typeface="微软雅黑"/>
              </a:rPr>
              <a:t>发现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286000"/>
            <a:ext cx="3931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5B6B7C"/>
                </a:solidFill>
                <a:latin typeface="微软雅黑"/>
                <a:ea typeface="微软雅黑"/>
              </a:rPr>
              <a:t>叮当按名称返回 primary 主控 + legal.issue_verdict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246120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A9D8F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2461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23B5D"/>
                </a:solidFill>
                <a:latin typeface="微软雅黑"/>
                <a:ea typeface="微软雅黑"/>
              </a:rPr>
              <a:t>互联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246120"/>
            <a:ext cx="3931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5B6B7C"/>
                </a:solidFill>
                <a:latin typeface="微软雅黑"/>
                <a:ea typeface="微软雅黑"/>
              </a:rPr>
              <a:t>s2 证据三叶子；debate_chain 跨机；e2e 探针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206240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A9D8F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2062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23B5D"/>
                </a:solidFill>
                <a:latin typeface="微软雅黑"/>
                <a:ea typeface="微软雅黑"/>
              </a:rPr>
              <a:t>访问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4206240"/>
            <a:ext cx="3931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5B6B7C"/>
                </a:solidFill>
                <a:latin typeface="微软雅黑"/>
                <a:ea typeface="微软雅黑"/>
              </a:rPr>
              <a:t>改名后外部成功 1 次；历史 268 inbound / 成功 1</a:t>
            </a:r>
          </a:p>
        </p:txBody>
      </p:sp>
      <p:pic>
        <p:nvPicPr>
          <p:cNvPr id="17" name="Picture 16" descr="平台验证-拼图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269534"/>
            <a:ext cx="5669280" cy="2499274"/>
          </a:xfrm>
          <a:prstGeom prst="rect">
            <a:avLst/>
          </a:prstGeom>
          <a:ln w="9525">
            <a:solidFill>
              <a:srgbClr val="D4E0EA"/>
            </a:solidFill>
          </a:ln>
        </p:spPr>
      </p:pic>
      <p:sp>
        <p:nvSpPr>
          <p:cNvPr id="18" name="TextBox 17"/>
          <p:cNvSpPr txBox="1"/>
          <p:nvPr/>
        </p:nvSpPr>
        <p:spPr>
          <a:xfrm>
            <a:off x="6080760" y="3822191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B8B9B"/>
                </a:solidFill>
                <a:latin typeface="微软雅黑"/>
                <a:ea typeface="微软雅黑"/>
              </a:rPr>
              <a:t>图 2 · 平台详情（新 AIC）与叮当按名称发现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89320" y="4160520"/>
            <a:ext cx="5669280" cy="1417320"/>
          </a:xfrm>
          <a:prstGeom prst="roundRect">
            <a:avLst>
              <a:gd name="adj" fmla="val 8000"/>
            </a:avLst>
          </a:prstGeom>
          <a:solidFill>
            <a:srgbClr val="FFF6E6"/>
          </a:solidFill>
          <a:ln w="12700">
            <a:solidFill>
              <a:srgbClr val="F0D2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72200" y="4279392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7A4A12"/>
                </a:solidFill>
                <a:latin typeface="微软雅黑"/>
                <a:ea typeface="微软雅黑"/>
              </a:rPr>
              <a:t>平台侧注意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4553712"/>
            <a:ext cx="5303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80" b="0">
                <a:solidFill>
                  <a:srgbClr val="7A5A32"/>
                </a:solidFill>
                <a:latin typeface="微软雅黑"/>
                <a:ea typeface="微软雅黑"/>
              </a:rPr>
              <a:t>“输入 AIC 查询在线状态”会假阴性：Discovery 是语义检索，不是 AIC 精确目录；查 AIC 用 registry / tools.list_agents。改名后 Agent 程序化 acps_discover 的 ADP 索引仍有滞后——本文不写成“已解决”。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760720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0">
                <a:solidFill>
                  <a:srgbClr val="7B8B9B"/>
                </a:solidFill>
                <a:latin typeface="微软雅黑"/>
                <a:ea typeface="微软雅黑"/>
              </a:rPr>
              <a:t>AIC 1.2.156.3088.1.BUPT.81M3FX.6CKYE5.0ZV54U.0IPO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6455664"/>
            <a:ext cx="11091672" cy="7315"/>
          </a:xfrm>
          <a:prstGeom prst="rect">
            <a:avLst/>
          </a:prstGeom>
          <a:solidFill>
            <a:srgbClr val="D4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651052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7B8B9B"/>
                </a:solidFill>
                <a:latin typeface="微软雅黑"/>
                <a:ea typeface="微软雅黑"/>
              </a:rPr>
              <a:t>法前哨 · 技术方案 v1.0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78440" y="6510528"/>
            <a:ext cx="1234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7B8B9B"/>
                </a:solidFill>
                <a:latin typeface="微软雅黑"/>
                <a:ea typeface="微软雅黑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A9D8F"/>
                </a:solidFill>
                <a:latin typeface="微软雅黑"/>
                <a:ea typeface="微软雅黑"/>
              </a:rPr>
              <a:t>05 / 应用成效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23B5D"/>
                </a:solidFill>
                <a:latin typeface="微软雅黑"/>
                <a:ea typeface="微软雅黑"/>
              </a:rPr>
              <a:t>真实外部调用：不是自测，是另一个账号打进来的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78992"/>
            <a:ext cx="11091672" cy="10972"/>
          </a:xfrm>
          <a:prstGeom prst="rect">
            <a:avLst/>
          </a:prstGeom>
          <a:solidFill>
            <a:srgbClr val="D4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1-法前哨-业主群回扣-结论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03405"/>
            <a:ext cx="3749039" cy="4816948"/>
          </a:xfrm>
          <a:prstGeom prst="rect">
            <a:avLst/>
          </a:prstGeom>
          <a:ln w="9525">
            <a:solidFill>
              <a:srgbClr val="D4E0EA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02920" y="6126480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0">
                <a:solidFill>
                  <a:srgbClr val="7B8B9B"/>
                </a:solidFill>
                <a:latin typeface="微软雅黑"/>
                <a:ea typeface="微软雅黑"/>
              </a:rPr>
              <a:t>图 3 · 返回原文（节选）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12801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A9D8F"/>
                </a:solidFill>
                <a:latin typeface="微软雅黑"/>
                <a:ea typeface="微软雅黑"/>
              </a:rPr>
              <a:t>外部 AIC · …EZTK03.BS0XTB…（不同账号前缀）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1737360"/>
            <a:ext cx="694944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00" b="1">
                <a:solidFill>
                  <a:srgbClr val="2A9D8F"/>
                </a:solidFill>
                <a:latin typeface="微软雅黑"/>
                <a:ea typeface="微软雅黑"/>
              </a:rPr>
              <a:t>• </a:t>
            </a:r>
            <a:r>
              <a:rPr sz="1200" b="0">
                <a:solidFill>
                  <a:srgbClr val="5B6B7C"/>
                </a:solidFill>
                <a:latin typeface="微软雅黑"/>
                <a:ea typeface="微软雅黑"/>
              </a:rPr>
              <a:t>链路：外部 AIC → 叮当 → 法前哨 → 产品回传。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00" b="1">
                <a:solidFill>
                  <a:srgbClr val="2A9D8F"/>
                </a:solidFill>
                <a:latin typeface="微软雅黑"/>
                <a:ea typeface="微软雅黑"/>
              </a:rPr>
              <a:t>• </a:t>
            </a:r>
            <a:r>
              <a:rPr sz="1200" b="0">
                <a:solidFill>
                  <a:srgbClr val="5B6B7C"/>
                </a:solidFill>
                <a:latin typeface="微软雅黑"/>
                <a:ea typeface="微软雅黑"/>
              </a:rPr>
              <a:t>任务 task_96fd0329ecbb，completed，14:12。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00" b="1">
                <a:solidFill>
                  <a:srgbClr val="2A9D8F"/>
                </a:solidFill>
                <a:latin typeface="微软雅黑"/>
                <a:ea typeface="微软雅黑"/>
              </a:rPr>
              <a:t>• </a:t>
            </a:r>
            <a:r>
              <a:rPr sz="1200" b="0">
                <a:solidFill>
                  <a:srgbClr val="5B6B7C"/>
                </a:solidFill>
                <a:latin typeface="微软雅黑"/>
                <a:ea typeface="微软雅黑"/>
              </a:rPr>
              <a:t>结论：无法判定 + 谁主张谁举证 + 名誉权方向。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00" b="1">
                <a:solidFill>
                  <a:srgbClr val="2A9D8F"/>
                </a:solidFill>
                <a:latin typeface="微软雅黑"/>
                <a:ea typeface="微软雅黑"/>
              </a:rPr>
              <a:t>• </a:t>
            </a:r>
            <a:r>
              <a:rPr sz="1200" b="0">
                <a:solidFill>
                  <a:srgbClr val="5B6B7C"/>
                </a:solidFill>
                <a:latin typeface="微软雅黑"/>
                <a:ea typeface="微软雅黑"/>
              </a:rPr>
              <a:t>同会话另有 1 条 canceled；6 条内部自测不计外部。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3977639"/>
            <a:ext cx="6903720" cy="160020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92040" y="4160520"/>
            <a:ext cx="6492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23B5D"/>
                </a:solidFill>
                <a:latin typeface="微软雅黑"/>
                <a:ea typeface="微软雅黑"/>
              </a:rPr>
              <a:t>“谁主张谁举证……要求你‘自证清白’，属于举证倒置。”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48920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B6B7C"/>
                </a:solidFill>
                <a:latin typeface="微软雅黑"/>
                <a:ea typeface="微软雅黑"/>
              </a:rPr>
              <a:t>这就是“事前准备”，而不是“法律定性”。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6455664"/>
            <a:ext cx="11091672" cy="7315"/>
          </a:xfrm>
          <a:prstGeom prst="rect">
            <a:avLst/>
          </a:prstGeom>
          <a:solidFill>
            <a:srgbClr val="D4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651052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7B8B9B"/>
                </a:solidFill>
                <a:latin typeface="微软雅黑"/>
                <a:ea typeface="微软雅黑"/>
              </a:rPr>
              <a:t>法前哨 · 技术方案 v1.0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78440" y="6510528"/>
            <a:ext cx="1234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7B8B9B"/>
                </a:solidFill>
                <a:latin typeface="微软雅黑"/>
                <a:ea typeface="微软雅黑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A9D8F"/>
                </a:solidFill>
                <a:latin typeface="微软雅黑"/>
                <a:ea typeface="微软雅黑"/>
              </a:rPr>
              <a:t>05 / 应用成效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23B5D"/>
                </a:solidFill>
                <a:latin typeface="微软雅黑"/>
                <a:ea typeface="微软雅黑"/>
              </a:rPr>
              <a:t>应用成效：有数字，也有边界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78992"/>
            <a:ext cx="11091672" cy="10972"/>
          </a:xfrm>
          <a:prstGeom prst="rect">
            <a:avLst/>
          </a:prstGeom>
          <a:solidFill>
            <a:srgbClr val="D4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260604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41732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2A9D8F"/>
                </a:solidFill>
                <a:latin typeface="微软雅黑"/>
                <a:ea typeface="微软雅黑"/>
              </a:rPr>
              <a:t>12 / 10 /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99339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23B5D"/>
                </a:solidFill>
                <a:latin typeface="微软雅黑"/>
                <a:ea typeface="微软雅黑"/>
              </a:rPr>
              <a:t>角色 / 部署 / 软废弃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30428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0">
                <a:solidFill>
                  <a:srgbClr val="7B8B9B"/>
                </a:solidFill>
                <a:latin typeface="微软雅黑"/>
                <a:ea typeface="微软雅黑"/>
              </a:rPr>
              <a:t>端口 8443–8454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280160"/>
            <a:ext cx="260604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47872" y="141732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2A9D8F"/>
                </a:solidFill>
                <a:latin typeface="微软雅黑"/>
                <a:ea typeface="微软雅黑"/>
              </a:rPr>
              <a:t>20 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47872" y="199339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23B5D"/>
                </a:solidFill>
                <a:latin typeface="微软雅黑"/>
                <a:ea typeface="微软雅黑"/>
              </a:rPr>
              <a:t>真实案例轮 / 跑满 1 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47872" y="230428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0">
                <a:solidFill>
                  <a:srgbClr val="7B8B9B"/>
                </a:solidFill>
                <a:latin typeface="微软雅黑"/>
                <a:ea typeface="微软雅黑"/>
              </a:rPr>
              <a:t>最近一轮四检全绿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280160"/>
            <a:ext cx="260604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2512" y="141732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2A9D8F"/>
                </a:solidFill>
                <a:latin typeface="微软雅黑"/>
                <a:ea typeface="微软雅黑"/>
              </a:rPr>
              <a:t>12 / 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199339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23B5D"/>
                </a:solidFill>
                <a:latin typeface="微软雅黑"/>
                <a:ea typeface="微软雅黑"/>
              </a:rPr>
              <a:t>ACS 指纹未漂移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230428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0">
                <a:solidFill>
                  <a:srgbClr val="7B8B9B"/>
                </a:solidFill>
                <a:latin typeface="微软雅黑"/>
                <a:ea typeface="微软雅黑"/>
              </a:rPr>
              <a:t>check_local 21 节通过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52560" y="1280160"/>
            <a:ext cx="260604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17152" y="141732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E9A23B"/>
                </a:solidFill>
                <a:latin typeface="微软雅黑"/>
                <a:ea typeface="微软雅黑"/>
              </a:rPr>
              <a:t>1 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17152" y="199339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23B5D"/>
                </a:solidFill>
                <a:latin typeface="微软雅黑"/>
                <a:ea typeface="微软雅黑"/>
              </a:rPr>
              <a:t>改名后成功外部调用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7152" y="230428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0">
                <a:solidFill>
                  <a:srgbClr val="7B8B9B"/>
                </a:solidFill>
                <a:latin typeface="微软雅黑"/>
                <a:ea typeface="微软雅黑"/>
              </a:rPr>
              <a:t>task_96fd0329ecbb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246120"/>
            <a:ext cx="5394960" cy="141732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3383280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F4E79"/>
                </a:solidFill>
                <a:latin typeface="微软雅黑"/>
                <a:ea typeface="微软雅黑"/>
              </a:rPr>
              <a:t>历史快照（旧 AIC）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3657600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23B5D"/>
                </a:solidFill>
                <a:latin typeface="微软雅黑"/>
                <a:ea typeface="微软雅黑"/>
              </a:rPr>
              <a:t>268 inbound / 外部 4 / 成功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4069080"/>
            <a:ext cx="4754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B6B7C"/>
                </a:solidFill>
                <a:latin typeface="微软雅黑"/>
                <a:ea typeface="微软雅黑"/>
              </a:rPr>
              <a:t>不和新 AIC 的 1 次相加；分开写。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3246120"/>
            <a:ext cx="5394960" cy="1417320"/>
          </a:xfrm>
          <a:prstGeom prst="roundRect">
            <a:avLst>
              <a:gd name="adj" fmla="val 8000"/>
            </a:avLst>
          </a:prstGeom>
          <a:solidFill>
            <a:srgbClr val="FFF6E6"/>
          </a:solidFill>
          <a:ln w="12700">
            <a:solidFill>
              <a:srgbClr val="F0D2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19088" y="3383280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7A4A12"/>
                </a:solidFill>
                <a:latin typeface="微软雅黑"/>
                <a:ea typeface="微软雅黑"/>
              </a:rPr>
              <a:t>评测口径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19088" y="3657600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7A4A12"/>
                </a:solidFill>
                <a:latin typeface="微软雅黑"/>
                <a:ea typeface="微软雅黑"/>
              </a:rPr>
              <a:t>21/22（95.45%）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19088" y="4069080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80" b="0">
                <a:solidFill>
                  <a:srgbClr val="7A5A32"/>
                </a:solidFill>
                <a:latin typeface="微软雅黑"/>
                <a:ea typeface="微软雅黑"/>
              </a:rPr>
              <a:t>22 条同源基准，不是泛化准确率；无“断章取义/无法判定”基准。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16636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A9D8F"/>
                </a:solidFill>
                <a:latin typeface="微软雅黑"/>
                <a:ea typeface="微软雅黑"/>
              </a:rPr>
              <a:t>把“历史快照 / 改名后新增 / 内部自测”三本账分开，是这份材料最重要的诚实。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62356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7B8B9B"/>
                </a:solidFill>
                <a:latin typeface="微软雅黑"/>
                <a:ea typeface="微软雅黑"/>
              </a:rPr>
              <a:t>所有数字都有任务库 / 截图 / 命令输出对应；没有证据的数字不写。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6455664"/>
            <a:ext cx="11091672" cy="7315"/>
          </a:xfrm>
          <a:prstGeom prst="rect">
            <a:avLst/>
          </a:prstGeom>
          <a:solidFill>
            <a:srgbClr val="D4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51052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7B8B9B"/>
                </a:solidFill>
                <a:latin typeface="微软雅黑"/>
                <a:ea typeface="微软雅黑"/>
              </a:rPr>
              <a:t>法前哨 · 技术方案 v1.0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78440" y="6510528"/>
            <a:ext cx="1234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7B8B9B"/>
                </a:solidFill>
                <a:latin typeface="微软雅黑"/>
                <a:ea typeface="微软雅黑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A9D8F"/>
                </a:solidFill>
                <a:latin typeface="微软雅黑"/>
                <a:ea typeface="微软雅黑"/>
              </a:rPr>
              <a:t>06 / 总结与展望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23B5D"/>
                </a:solidFill>
                <a:latin typeface="微软雅黑"/>
                <a:ea typeface="微软雅黑"/>
              </a:rPr>
              <a:t>复盘：四点经验 + 四条标准化建议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78992"/>
            <a:ext cx="11091672" cy="10972"/>
          </a:xfrm>
          <a:prstGeom prst="rect">
            <a:avLst/>
          </a:prstGeom>
          <a:solidFill>
            <a:srgbClr val="D4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2743200" cy="1298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08176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23B5D"/>
                </a:solidFill>
                <a:latin typeface="微软雅黑"/>
                <a:ea typeface="微软雅黑"/>
              </a:rPr>
              <a:t>先定契约，再写代码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55648"/>
            <a:ext cx="24688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5B6B7C"/>
                </a:solidFill>
                <a:latin typeface="微软雅黑"/>
                <a:ea typeface="微软雅黑"/>
              </a:rPr>
              <a:t>每个 Agent 的交付物先钉死，Leader 不解析自然语言。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280160"/>
            <a:ext cx="2743200" cy="1298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80" y="1408176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23B5D"/>
                </a:solidFill>
                <a:latin typeface="微软雅黑"/>
                <a:ea typeface="微软雅黑"/>
              </a:rPr>
              <a:t>不要相信模型自觉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1755648"/>
            <a:ext cx="24688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5B6B7C"/>
                </a:solidFill>
                <a:latin typeface="微软雅黑"/>
                <a:ea typeface="微软雅黑"/>
              </a:rPr>
              <a:t>终止、追问、工具选择、鉴伪结论都要结构约束。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788920"/>
            <a:ext cx="2743200" cy="1298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916936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23B5D"/>
                </a:solidFill>
                <a:latin typeface="微软雅黑"/>
                <a:ea typeface="微软雅黑"/>
              </a:rPr>
              <a:t>判据要能证伪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264408"/>
            <a:ext cx="24688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5B6B7C"/>
                </a:solidFill>
                <a:latin typeface="微软雅黑"/>
                <a:ea typeface="微软雅黑"/>
              </a:rPr>
              <a:t>completed 不算成功；output 新文件才算；not_run 必须显式。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74720" y="2788920"/>
            <a:ext cx="2743200" cy="1298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1880" y="2916936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23B5D"/>
                </a:solidFill>
                <a:latin typeface="微软雅黑"/>
                <a:ea typeface="微软雅黑"/>
              </a:rPr>
              <a:t>平台适配是硬功夫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3264408"/>
            <a:ext cx="24688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5B6B7C"/>
                </a:solidFill>
                <a:latin typeface="微软雅黑"/>
                <a:ea typeface="微软雅黑"/>
              </a:rPr>
              <a:t>Discovery filter、并发登录、软删除、AIC 轮换，都是真坑。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280160"/>
            <a:ext cx="5257800" cy="361188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 w="12700">
            <a:solidFill>
              <a:srgbClr val="C9D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01968" y="1444752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23B5D"/>
                </a:solidFill>
                <a:latin typeface="微软雅黑"/>
                <a:ea typeface="微软雅黑"/>
              </a:rPr>
              <a:t>标准化建议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1968" y="1874519"/>
            <a:ext cx="48006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030" b="1">
                <a:solidFill>
                  <a:srgbClr val="2A9D8F"/>
                </a:solidFill>
                <a:latin typeface="微软雅黑"/>
                <a:ea typeface="微软雅黑"/>
              </a:rPr>
              <a:t>• </a:t>
            </a:r>
            <a:r>
              <a:rPr sz="1030" b="0">
                <a:solidFill>
                  <a:srgbClr val="5B6B7C"/>
                </a:solidFill>
                <a:latin typeface="微软雅黑"/>
                <a:ea typeface="微软雅黑"/>
              </a:rPr>
              <a:t>AIP/AAC 的多级委派需要显式链深约束；本项目在应用层补 MAX_CHAIN_DEPTH=3。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030" b="1">
                <a:solidFill>
                  <a:srgbClr val="2A9D8F"/>
                </a:solidFill>
                <a:latin typeface="微软雅黑"/>
                <a:ea typeface="微软雅黑"/>
              </a:rPr>
              <a:t>• </a:t>
            </a:r>
            <a:r>
              <a:rPr sz="1030" b="0">
                <a:solidFill>
                  <a:srgbClr val="5B6B7C"/>
                </a:solidFill>
                <a:latin typeface="微软雅黑"/>
                <a:ea typeface="微软雅黑"/>
              </a:rPr>
              <a:t>Discovery 需要 AIC 精确目录；语义检索不能替代身份查找。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030" b="1">
                <a:solidFill>
                  <a:srgbClr val="2A9D8F"/>
                </a:solidFill>
                <a:latin typeface="微软雅黑"/>
                <a:ea typeface="微软雅黑"/>
              </a:rPr>
              <a:t>• </a:t>
            </a:r>
            <a:r>
              <a:rPr sz="1030" b="0">
                <a:solidFill>
                  <a:srgbClr val="5B6B7C"/>
                </a:solidFill>
                <a:latin typeface="微软雅黑"/>
                <a:ea typeface="微软雅黑"/>
              </a:rPr>
              <a:t>软删除 / 可见性语义应在发现索引中一致传播。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030" b="1">
                <a:solidFill>
                  <a:srgbClr val="2A9D8F"/>
                </a:solidFill>
                <a:latin typeface="微软雅黑"/>
                <a:ea typeface="微软雅黑"/>
              </a:rPr>
              <a:t>• </a:t>
            </a:r>
            <a:r>
              <a:rPr sz="1030" b="0">
                <a:solidFill>
                  <a:srgbClr val="5B6B7C"/>
                </a:solidFill>
                <a:latin typeface="微软雅黑"/>
                <a:ea typeface="微软雅黑"/>
              </a:rPr>
              <a:t>AMP 的 Access / Message 口径应在控制台写清楚。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1968" y="4160520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F4E79"/>
                </a:solidFill>
                <a:latin typeface="微软雅黑"/>
                <a:ea typeface="微软雅黑"/>
              </a:rPr>
              <a:t>把踩过的坑，变成下一支队伍</a:t>
            </a:r>
          </a:p>
          <a:p>
            <a:pPr algn="l">
              <a:lnSpc>
                <a:spcPct val="115000"/>
              </a:lnSpc>
            </a:pPr>
            <a:r>
              <a:rPr sz="1100" b="1">
                <a:solidFill>
                  <a:srgbClr val="1F4E79"/>
                </a:solidFill>
                <a:latin typeface="微软雅黑"/>
                <a:ea typeface="微软雅黑"/>
              </a:rPr>
              <a:t>不用再踩的适配层。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34924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2A9D8F"/>
                </a:solidFill>
                <a:latin typeface="微软雅黑"/>
                <a:ea typeface="微软雅黑"/>
              </a:rPr>
              <a:t>未来：20 条 holdout / 鉴伪 ground truth / MCP 能力开放 / 角色收敛赛后做。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6455664"/>
            <a:ext cx="11091672" cy="7315"/>
          </a:xfrm>
          <a:prstGeom prst="rect">
            <a:avLst/>
          </a:prstGeom>
          <a:solidFill>
            <a:srgbClr val="D4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651052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7B8B9B"/>
                </a:solidFill>
                <a:latin typeface="微软雅黑"/>
                <a:ea typeface="微软雅黑"/>
              </a:rPr>
              <a:t>法前哨 · 技术方案 v1.0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78440" y="6510528"/>
            <a:ext cx="1234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7B8B9B"/>
                </a:solidFill>
                <a:latin typeface="微软雅黑"/>
                <a:ea typeface="微软雅黑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B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1051560"/>
            <a:ext cx="73152" cy="28346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914400"/>
            <a:ext cx="7772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>
                <a:solidFill>
                  <a:srgbClr val="FFFFFF"/>
                </a:solidFill>
                <a:latin typeface="微软雅黑"/>
                <a:ea typeface="微软雅黑"/>
              </a:rPr>
              <a:t>法前哨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1965960"/>
            <a:ext cx="82296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>
                <a:solidFill>
                  <a:srgbClr val="D7E6F3"/>
                </a:solidFill>
                <a:latin typeface="微软雅黑"/>
                <a:ea typeface="微软雅黑"/>
              </a:rPr>
              <a:t>把事实、证据、话术，</a:t>
            </a:r>
          </a:p>
          <a:p>
            <a:pPr algn="l">
              <a:lnSpc>
                <a:spcPct val="130000"/>
              </a:lnSpc>
            </a:pPr>
            <a:r>
              <a:rPr sz="2400" b="1">
                <a:solidFill>
                  <a:srgbClr val="D7E6F3"/>
                </a:solidFill>
                <a:latin typeface="微软雅黑"/>
                <a:ea typeface="微软雅黑"/>
              </a:rPr>
              <a:t>准备在成为当事人之前。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3840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A9C3D8"/>
                </a:solidFill>
                <a:latin typeface="微软雅黑"/>
                <a:ea typeface="微软雅黑"/>
              </a:rPr>
              <a:t>技术方案 · 2026-10-21 · 梧桐智能体互联平台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512064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2A9D8F"/>
                </a:solidFill>
                <a:latin typeface="微软雅黑"/>
                <a:ea typeface="微软雅黑"/>
              </a:rPr>
              <a:t>谢谢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598932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A9C3D8"/>
                </a:solidFill>
                <a:latin typeface="微软雅黑"/>
                <a:ea typeface="微软雅黑"/>
              </a:rPr>
              <a:t>12 角色 · 10 部署 · 两级嵌套 · 全链留痕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